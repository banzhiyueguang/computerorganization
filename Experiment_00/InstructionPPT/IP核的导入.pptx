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37" r:id="rId3"/>
    <p:sldId id="338" r:id="rId4"/>
    <p:sldId id="339" r:id="rId5"/>
    <p:sldId id="340" r:id="rId6"/>
    <p:sldId id="341" r:id="rId7"/>
    <p:sldId id="351" r:id="rId8"/>
    <p:sldId id="344" r:id="rId9"/>
    <p:sldId id="345" r:id="rId10"/>
    <p:sldId id="346" r:id="rId11"/>
    <p:sldId id="347" r:id="rId12"/>
    <p:sldId id="349" r:id="rId13"/>
    <p:sldId id="711" r:id="rId14"/>
    <p:sldId id="651" r:id="rId15"/>
    <p:sldId id="652" r:id="rId16"/>
    <p:sldId id="653" r:id="rId17"/>
    <p:sldId id="520" r:id="rId18"/>
    <p:sldId id="656" r:id="rId19"/>
    <p:sldId id="657" r:id="rId20"/>
    <p:sldId id="712" r:id="rId21"/>
    <p:sldId id="658" r:id="rId22"/>
    <p:sldId id="659" r:id="rId23"/>
    <p:sldId id="70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64" y="1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FA877-7ADB-413D-962B-BC4F8DF57F6E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D6125-6050-4022-BF2C-CC8CC3512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44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Clr>
                <a:srgbClr val="4BACC6">
                  <a:lumMod val="75000"/>
                </a:srgbClr>
              </a:buClr>
              <a:buNone/>
            </a:pPr>
            <a:r>
              <a:rPr lang="en-US" altLang="zh-CN" sz="1200" dirty="0"/>
              <a:t>		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7845D-4CC6-46FE-B2F1-454F0828D0E8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658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54E6F-4A1E-20ED-CB1B-6895AA2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0E949B-7E74-E8F2-EEF2-A71989851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FB5257-7ABF-0FF7-B580-3A043514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78C33A-DEE8-4A48-AAE9-305B9C81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58C607-6708-2416-44B5-A4CF3BB4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10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D8611-AD19-DABA-7A7C-D35D30AA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AFA5E-59AE-D86D-7910-119B75848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A51CB9-5292-A815-E1E6-CA1AC22D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91017B-0FBE-8BCA-671D-90472957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E31854-7E89-11C8-185D-38034407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24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9A36A-4A81-79CA-CFAC-F7BF2DDA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09DB3E-DD42-4B00-7861-FDC4F8FAD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A613DC-650E-02C2-D308-82A86DEE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0A8C44-408C-966B-891E-C875FA63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6A4C5D-3175-D545-8193-AD4A8C14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15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6FB7F-B6EE-3852-BBF9-82C96C43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0ECA54-3661-B083-B300-82B4B6798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031FAA-93C9-AF62-C7D4-53D3F9439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0A39D8-6162-02E0-92E0-7D0732412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49170F-472A-84A9-AA6D-70F3FA486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83FF2B-9A84-791B-8B94-2A1B6E54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7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79328-ECC2-75A2-244D-2832CC16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D978F4-CB1C-1ADC-8924-1483FD34E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9BECDA-D1B9-F8F0-290D-F1293F5EA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A87EF3-3600-12BB-A019-51A0CD9A4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2F9DCB-5F5A-62FB-71E3-2F4BBE98A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0E8C0E-E6C6-75AE-A9C0-215BF36BC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6DF64F-D621-67B4-F52A-03F195F8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5CFC03-F916-4498-C61B-92484404A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297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9A85E-ECB5-AB97-EB9F-D188294D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CFF886-A914-7608-97E3-C8F104C5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2B98E9-0CCC-5408-72A5-B317F6FA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BA2C82-6912-28BD-C84F-8470C1F9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4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B60A61-1A64-CBED-B6DF-E5AB1178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78D729-C3D5-4881-9B4D-478CBF1A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1D8A60-68EC-5A82-22C6-2AB2B2A2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96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1E201-4611-2115-F68B-38224B5A3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FDF15-954A-82A7-C62A-97D9BB660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40681C-3AD9-5304-BE15-EC459DC3E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88C7E2-4898-4FFC-EC04-CB626D61C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8CEC46-9C7E-F5F0-F94B-D5967DD0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300F7F-64E9-34BE-93CA-A107A5A3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65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91DFA-97FA-6C7B-F51A-CF047B07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B03A01-B9CF-E9BD-8B9F-97BEBFFFC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B847AC-0CA3-7E34-789E-07460DB13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6C18BB-AF8E-C7E5-DB06-66F2B186C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AC1408-1340-E2F4-DB18-4228F90D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6CA95F-4100-6EE0-3DFC-51F4965F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575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8C576-B320-11B8-4AF7-AD25B444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69C0B0-266F-E32A-F584-87168930E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7DC177-BDA1-5482-5AE2-C18D2F42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4F0FAF-4524-D5E8-2728-C21D745B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5D7621-8BC1-381F-5D61-8937C22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16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E1ACD2-5659-AEB8-B026-B334AC35B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D2E546-EC0D-A251-CE16-9527AAF02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C02B5-52C9-265F-D65F-C07D8024A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C9B803-855F-D868-7026-84ED1DEA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CEB75D-0CA1-5778-09B4-E6D9127C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63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28A396-8BED-746D-48D7-184214A5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ED6D9F-8841-D811-1B24-725602CA1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40256-007A-F87C-0F50-C6ECA3095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187EA-C03B-4432-AFE3-E98E474A54B2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D322C7-7F5C-671A-495A-D2DEA71F7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A765C6-6F48-8F04-3327-345B7E3CA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A2CA4-8290-4594-9149-2F1DDB7D5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37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46B9F9-69A1-F477-498C-213C12026A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1230BC-8CFF-01D4-3147-BE2C0D24E7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87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59496" y="116632"/>
            <a:ext cx="8013576" cy="95436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dirty="0"/>
              <a:t>ROM_D IP Core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781177" y="1126620"/>
            <a:ext cx="8540751" cy="4554215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solidFill>
                  <a:srgbClr val="080808"/>
                </a:solidFill>
              </a:rPr>
              <a:t>用</a:t>
            </a:r>
            <a:r>
              <a:rPr lang="en-US" altLang="zh-CN" sz="2400" dirty="0">
                <a:solidFill>
                  <a:srgbClr val="080808"/>
                </a:solidFill>
              </a:rPr>
              <a:t>IP</a:t>
            </a:r>
            <a:r>
              <a:rPr lang="zh-CN" altLang="en-US" sz="2400" dirty="0">
                <a:solidFill>
                  <a:srgbClr val="080808"/>
                </a:solidFill>
              </a:rPr>
              <a:t>核生成器建立</a:t>
            </a:r>
            <a:r>
              <a:rPr lang="en-US" altLang="zh-CN" sz="2400" dirty="0">
                <a:solidFill>
                  <a:srgbClr val="080808"/>
                </a:solidFill>
              </a:rPr>
              <a:t>1024×32bit</a:t>
            </a:r>
            <a:r>
              <a:rPr lang="zh-CN" altLang="en-US" sz="2400" dirty="0">
                <a:solidFill>
                  <a:srgbClr val="080808"/>
                </a:solidFill>
              </a:rPr>
              <a:t>的</a:t>
            </a:r>
            <a:r>
              <a:rPr lang="en-US" altLang="zh-CN" sz="2400" dirty="0">
                <a:solidFill>
                  <a:srgbClr val="080808"/>
                </a:solidFill>
              </a:rPr>
              <a:t>ROM</a:t>
            </a:r>
            <a:r>
              <a:rPr lang="zh-CN" altLang="en-US" sz="2400" dirty="0">
                <a:solidFill>
                  <a:srgbClr val="080808"/>
                </a:solidFill>
              </a:rPr>
              <a:t>核</a:t>
            </a:r>
          </a:p>
          <a:p>
            <a:pPr lvl="1"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〖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第一步</a:t>
            </a: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〗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VIVADO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集成菜单上从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PROJECT MANAGER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选择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IP Catalog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，将弹出如如下新模块源母板生成向导窗口</a:t>
            </a:r>
            <a:r>
              <a:rPr lang="zh-CN" altLang="en-US" dirty="0">
                <a:solidFill>
                  <a:srgbClr val="080808"/>
                </a:solidFill>
              </a:rPr>
              <a:t>。</a:t>
            </a:r>
            <a:endParaRPr lang="en-US" altLang="zh-CN" b="1" dirty="0">
              <a:latin typeface="Calibri" pitchFamily="34" charset="0"/>
            </a:endParaRPr>
          </a:p>
          <a:p>
            <a:pPr lvl="1">
              <a:spcBef>
                <a:spcPts val="0"/>
              </a:spcBef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4C7F23-6EAB-48D3-9165-DC3D332E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240" y="2777171"/>
            <a:ext cx="2428875" cy="19526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0B18F04-2E04-4196-8B77-A713DB891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699" y="2699510"/>
            <a:ext cx="6667500" cy="2981325"/>
          </a:xfrm>
          <a:prstGeom prst="rect">
            <a:avLst/>
          </a:prstGeom>
        </p:spPr>
      </p:pic>
      <p:sp>
        <p:nvSpPr>
          <p:cNvPr id="7" name="Oval 10">
            <a:extLst>
              <a:ext uri="{FF2B5EF4-FFF2-40B4-BE49-F238E27FC236}">
                <a16:creationId xmlns:a16="http://schemas.microsoft.com/office/drawing/2014/main" id="{2BF55B05-0290-4DF7-AF7B-CC84AF3D0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1905" y="4190171"/>
            <a:ext cx="1871663" cy="647700"/>
          </a:xfrm>
          <a:prstGeom prst="ellipse">
            <a:avLst/>
          </a:prstGeom>
          <a:noFill/>
          <a:ln w="9525">
            <a:solidFill>
              <a:srgbClr val="F3030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981965-9596-4E29-9D97-F59C686C1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2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31A89C-7C72-6BB1-B041-D9B399EBA98F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IP</a:t>
            </a:r>
          </a:p>
        </p:txBody>
      </p:sp>
    </p:spTree>
    <p:extLst>
      <p:ext uri="{BB962C8B-B14F-4D97-AF65-F5344CB8AC3E}">
        <p14:creationId xmlns:p14="http://schemas.microsoft.com/office/powerpoint/2010/main" val="240487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328B693-7FB0-4662-9C64-06567487A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3555268"/>
            <a:ext cx="6228184" cy="259171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905" y="1070992"/>
            <a:ext cx="8229600" cy="4968552"/>
          </a:xfrm>
        </p:spPr>
        <p:txBody>
          <a:bodyPr/>
          <a:lstStyle/>
          <a:p>
            <a:pPr lvl="1"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〖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第二步</a:t>
            </a: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〗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点击搜索栏，输入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memory generator</a:t>
            </a:r>
            <a:endParaRPr lang="zh-CN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2">
              <a:spcBef>
                <a:spcPts val="0"/>
              </a:spcBef>
              <a:defRPr/>
            </a:pPr>
            <a:r>
              <a:rPr lang="zh-CN" altLang="en-US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选择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Distributed Memory Generator</a:t>
            </a:r>
            <a:b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</a:br>
            <a:r>
              <a:rPr lang="zh-CN" altLang="en-US" dirty="0"/>
              <a:t>或</a:t>
            </a:r>
            <a:r>
              <a:rPr lang="en-US" altLang="zh-CN" dirty="0"/>
              <a:t>Block Memory Generator</a:t>
            </a:r>
            <a:endParaRPr lang="en-US" altLang="zh-CN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r>
              <a:rPr lang="en-US" altLang="zh-CN" sz="2000" dirty="0"/>
              <a:t>Distributed Memory </a:t>
            </a:r>
            <a:r>
              <a:rPr lang="zh-CN" altLang="en-US" sz="2000" dirty="0"/>
              <a:t>：</a:t>
            </a:r>
            <a:br>
              <a:rPr lang="en-US" altLang="zh-CN" sz="2000" dirty="0"/>
            </a:br>
            <a:r>
              <a:rPr lang="en-US" altLang="zh-CN" sz="2000" dirty="0"/>
              <a:t>	       </a:t>
            </a:r>
            <a:r>
              <a:rPr lang="zh-CN" altLang="en-US" sz="2000" dirty="0"/>
              <a:t>符合异步访问要求</a:t>
            </a:r>
          </a:p>
          <a:p>
            <a:r>
              <a:rPr lang="en-US" altLang="zh-CN" sz="2000" dirty="0"/>
              <a:t>Block Memory Generator</a:t>
            </a:r>
            <a:r>
              <a:rPr lang="zh-CN" altLang="en-US" sz="2000" dirty="0"/>
              <a:t>：</a:t>
            </a:r>
            <a:br>
              <a:rPr lang="en-US" altLang="zh-CN" sz="2000" dirty="0"/>
            </a:br>
            <a:r>
              <a:rPr lang="en-US" altLang="zh-CN" sz="2000" dirty="0"/>
              <a:t>                </a:t>
            </a:r>
            <a:r>
              <a:rPr lang="zh-CN" altLang="en-US" sz="2000" dirty="0"/>
              <a:t>是同步访问</a:t>
            </a:r>
            <a:endParaRPr lang="en-US" altLang="zh-CN" sz="2000" dirty="0"/>
          </a:p>
          <a:p>
            <a:pPr>
              <a:spcBef>
                <a:spcPts val="0"/>
              </a:spcBef>
              <a:defRPr/>
            </a:pPr>
            <a:endParaRPr lang="en-US" altLang="zh-CN" sz="3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5" name="Oval 10">
            <a:extLst>
              <a:ext uri="{FF2B5EF4-FFF2-40B4-BE49-F238E27FC236}">
                <a16:creationId xmlns:a16="http://schemas.microsoft.com/office/drawing/2014/main" id="{B7407F38-0604-430B-8FCF-FACA4863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097" y="3933057"/>
            <a:ext cx="1237712" cy="256743"/>
          </a:xfrm>
          <a:prstGeom prst="ellipse">
            <a:avLst/>
          </a:prstGeom>
          <a:noFill/>
          <a:ln w="9525">
            <a:solidFill>
              <a:srgbClr val="F3030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6" name="Oval 10">
            <a:extLst>
              <a:ext uri="{FF2B5EF4-FFF2-40B4-BE49-F238E27FC236}">
                <a16:creationId xmlns:a16="http://schemas.microsoft.com/office/drawing/2014/main" id="{9453C921-1484-4B30-BE35-78830D327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32" y="4845376"/>
            <a:ext cx="1237712" cy="256743"/>
          </a:xfrm>
          <a:prstGeom prst="ellipse">
            <a:avLst/>
          </a:prstGeom>
          <a:noFill/>
          <a:ln w="9525">
            <a:solidFill>
              <a:srgbClr val="F3030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091F5B-1A60-4F07-8812-9237898E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4966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7F933E2-BB94-4E53-8EED-A07F7FF48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101" y="2060849"/>
            <a:ext cx="7524328" cy="4545393"/>
          </a:xfrm>
          <a:prstGeom prst="rect">
            <a:avLst/>
          </a:prstGeom>
        </p:spPr>
      </p:pic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1754192" y="115891"/>
            <a:ext cx="7005637" cy="955675"/>
          </a:xfrm>
        </p:spPr>
        <p:txBody>
          <a:bodyPr/>
          <a:lstStyle/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00189" y="1104622"/>
            <a:ext cx="8229600" cy="4608043"/>
          </a:xfrm>
        </p:spPr>
        <p:txBody>
          <a:bodyPr/>
          <a:lstStyle/>
          <a:p>
            <a:pPr lvl="1">
              <a:defRPr/>
            </a:pPr>
            <a:r>
              <a:rPr lang="en-US" altLang="zh-CN" sz="2000" b="1" dirty="0"/>
              <a:t>〖</a:t>
            </a:r>
            <a:r>
              <a:rPr lang="zh-CN" altLang="en-US" sz="2000" b="1" dirty="0"/>
              <a:t>第三步</a:t>
            </a:r>
            <a:r>
              <a:rPr lang="en-US" altLang="zh-CN" sz="2000" b="1" dirty="0"/>
              <a:t>〗</a:t>
            </a:r>
            <a:r>
              <a:rPr lang="zh-CN" altLang="en-US" sz="2000" dirty="0"/>
              <a:t>核参数设置</a:t>
            </a:r>
          </a:p>
          <a:p>
            <a:pPr lvl="2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双击</a:t>
            </a:r>
            <a:r>
              <a:rPr lang="en-US" altLang="zh-CN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Distributed Memory Generator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弹出窗口第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页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zh-CN" altLang="en-US" dirty="0"/>
          </a:p>
        </p:txBody>
      </p:sp>
      <p:sp>
        <p:nvSpPr>
          <p:cNvPr id="46085" name="AutoShape 15"/>
          <p:cNvSpPr>
            <a:spLocks noChangeArrowheads="1"/>
          </p:cNvSpPr>
          <p:nvPr/>
        </p:nvSpPr>
        <p:spPr bwMode="auto">
          <a:xfrm>
            <a:off x="9440863" y="5084765"/>
            <a:ext cx="696912" cy="412751"/>
          </a:xfrm>
          <a:prstGeom prst="wedgeRoundRectCallout">
            <a:avLst>
              <a:gd name="adj1" fmla="val -163054"/>
              <a:gd name="adj2" fmla="val 276985"/>
              <a:gd name="adj3" fmla="val 16667"/>
            </a:avLst>
          </a:prstGeom>
          <a:noFill/>
          <a:ln w="9525">
            <a:solidFill>
              <a:srgbClr val="F3030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点击</a:t>
            </a:r>
          </a:p>
        </p:txBody>
      </p:sp>
      <p:sp>
        <p:nvSpPr>
          <p:cNvPr id="46086" name="Oval 10"/>
          <p:cNvSpPr>
            <a:spLocks noChangeArrowheads="1"/>
          </p:cNvSpPr>
          <p:nvPr/>
        </p:nvSpPr>
        <p:spPr bwMode="auto">
          <a:xfrm>
            <a:off x="5160169" y="3707295"/>
            <a:ext cx="1871663" cy="647700"/>
          </a:xfrm>
          <a:prstGeom prst="ellipse">
            <a:avLst/>
          </a:prstGeom>
          <a:noFill/>
          <a:ln w="9525">
            <a:solidFill>
              <a:srgbClr val="F3030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46087" name="AutoShape 14"/>
          <p:cNvSpPr>
            <a:spLocks noChangeArrowheads="1"/>
          </p:cNvSpPr>
          <p:nvPr/>
        </p:nvSpPr>
        <p:spPr bwMode="auto">
          <a:xfrm>
            <a:off x="9045579" y="2368552"/>
            <a:ext cx="1622425" cy="1122363"/>
          </a:xfrm>
          <a:prstGeom prst="wedgeRoundRectCallout">
            <a:avLst>
              <a:gd name="adj1" fmla="val -170186"/>
              <a:gd name="adj2" fmla="val 9537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存储单元数和字长填入：</a:t>
            </a:r>
            <a:endParaRPr lang="en-US" altLang="zh-CN" sz="1600" dirty="0">
              <a:solidFill>
                <a:srgbClr val="080808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Width  32</a:t>
            </a:r>
          </a:p>
        </p:txBody>
      </p:sp>
      <p:sp>
        <p:nvSpPr>
          <p:cNvPr id="46088" name="AutoShape 15"/>
          <p:cNvSpPr>
            <a:spLocks noChangeArrowheads="1"/>
          </p:cNvSpPr>
          <p:nvPr/>
        </p:nvSpPr>
        <p:spPr bwMode="auto">
          <a:xfrm>
            <a:off x="1415550" y="3490914"/>
            <a:ext cx="806953" cy="1018206"/>
          </a:xfrm>
          <a:prstGeom prst="wedgeRoundRectCallout">
            <a:avLst>
              <a:gd name="adj1" fmla="val 421276"/>
              <a:gd name="adj2" fmla="val 79437"/>
              <a:gd name="adj3" fmla="val 16667"/>
            </a:avLst>
          </a:prstGeom>
          <a:noFill/>
          <a:ln w="9525">
            <a:solidFill>
              <a:srgbClr val="F3030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存储类型选择：</a:t>
            </a:r>
            <a:endParaRPr lang="en-US" altLang="zh-CN" sz="1600" dirty="0">
              <a:solidFill>
                <a:srgbClr val="080808"/>
              </a:solidFill>
              <a:latin typeface="Arial" panose="020B060402020202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ROM</a:t>
            </a:r>
            <a:endParaRPr lang="zh-CN" altLang="en-US" sz="1600" dirty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9" name="AutoShape 15">
            <a:extLst>
              <a:ext uri="{FF2B5EF4-FFF2-40B4-BE49-F238E27FC236}">
                <a16:creationId xmlns:a16="http://schemas.microsoft.com/office/drawing/2014/main" id="{D04439BB-61A8-4E81-978A-EF8878B87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0136" y="1821417"/>
            <a:ext cx="1080120" cy="412751"/>
          </a:xfrm>
          <a:prstGeom prst="wedgeRoundRectCallout">
            <a:avLst>
              <a:gd name="adj1" fmla="val -163054"/>
              <a:gd name="adj2" fmla="val 276985"/>
              <a:gd name="adj3" fmla="val 16667"/>
            </a:avLst>
          </a:prstGeom>
          <a:noFill/>
          <a:ln w="9525">
            <a:solidFill>
              <a:srgbClr val="F3030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模块名称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6A621E-1551-4B6F-B279-F4674FBE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5522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A37041D-8AAB-4061-8964-994ACA46C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170" y="2072398"/>
            <a:ext cx="7005637" cy="4519903"/>
          </a:xfrm>
          <a:prstGeom prst="rect">
            <a:avLst/>
          </a:prstGeom>
        </p:spPr>
      </p:pic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1754192" y="115891"/>
            <a:ext cx="7005637" cy="955675"/>
          </a:xfrm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2313" y="1052517"/>
            <a:ext cx="8229600" cy="4897437"/>
          </a:xfrm>
        </p:spPr>
        <p:txBody>
          <a:bodyPr/>
          <a:lstStyle/>
          <a:p>
            <a:pPr lvl="1">
              <a:spcBef>
                <a:spcPts val="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</a:rPr>
              <a:t>〖</a:t>
            </a:r>
            <a:r>
              <a:rPr lang="zh-CN" altLang="en-US" sz="2000" b="1" dirty="0">
                <a:solidFill>
                  <a:prstClr val="black"/>
                </a:solidFill>
              </a:rPr>
              <a:t>第四步</a:t>
            </a:r>
            <a:r>
              <a:rPr lang="en-US" altLang="zh-CN" sz="2000" b="1" dirty="0">
                <a:solidFill>
                  <a:prstClr val="black"/>
                </a:solidFill>
              </a:rPr>
              <a:t>〗</a:t>
            </a:r>
            <a:r>
              <a:rPr lang="zh-CN" altLang="en-US" sz="2000" b="1" dirty="0">
                <a:solidFill>
                  <a:prstClr val="black"/>
                </a:solidFill>
              </a:rPr>
              <a:t>关联初始化文件并生成</a:t>
            </a:r>
            <a:r>
              <a:rPr lang="en-US" altLang="zh-CN" sz="2000" b="1" dirty="0">
                <a:solidFill>
                  <a:prstClr val="black"/>
                </a:solidFill>
              </a:rPr>
              <a:t>ROMIP</a:t>
            </a:r>
            <a:r>
              <a:rPr lang="zh-CN" altLang="en-US" sz="2000" b="1" dirty="0">
                <a:solidFill>
                  <a:prstClr val="black"/>
                </a:solidFill>
              </a:rPr>
              <a:t>核</a:t>
            </a:r>
            <a:endParaRPr lang="zh-CN" altLang="en-US" sz="2000" dirty="0">
              <a:solidFill>
                <a:prstClr val="black"/>
              </a:solidFill>
            </a:endParaRPr>
          </a:p>
          <a:p>
            <a:pPr lvl="2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点击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RST&amp;Initialitiont</a:t>
            </a:r>
            <a:endParaRPr lang="en-US" altLang="zh-CN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点击“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Browse...”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选择初始化关联文件（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ROM.coe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lvl="2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其余不用修改 </a:t>
            </a:r>
          </a:p>
          <a:p>
            <a:pPr lvl="2">
              <a:spcBef>
                <a:spcPts val="0"/>
              </a:spcBef>
              <a:defRPr/>
            </a:pPr>
            <a:endParaRPr lang="zh-CN" altLang="en-US" dirty="0"/>
          </a:p>
        </p:txBody>
      </p:sp>
      <p:sp>
        <p:nvSpPr>
          <p:cNvPr id="47109" name="AutoShape 6"/>
          <p:cNvSpPr>
            <a:spLocks noChangeArrowheads="1"/>
          </p:cNvSpPr>
          <p:nvPr/>
        </p:nvSpPr>
        <p:spPr bwMode="auto">
          <a:xfrm>
            <a:off x="9598029" y="2817816"/>
            <a:ext cx="720725" cy="576263"/>
          </a:xfrm>
          <a:prstGeom prst="wedgeRoundRectCallout">
            <a:avLst>
              <a:gd name="adj1" fmla="val -54037"/>
              <a:gd name="adj2" fmla="val 182189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点击查验</a:t>
            </a:r>
          </a:p>
        </p:txBody>
      </p:sp>
      <p:sp>
        <p:nvSpPr>
          <p:cNvPr id="47110" name="AutoShape 7"/>
          <p:cNvSpPr>
            <a:spLocks noChangeArrowheads="1"/>
          </p:cNvSpPr>
          <p:nvPr/>
        </p:nvSpPr>
        <p:spPr bwMode="auto">
          <a:xfrm>
            <a:off x="1754192" y="5301208"/>
            <a:ext cx="2952751" cy="504276"/>
          </a:xfrm>
          <a:prstGeom prst="wedgeRoundRectCallout">
            <a:avLst>
              <a:gd name="adj1" fmla="val 198034"/>
              <a:gd name="adj2" fmla="val -251088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点击打开按钮</a:t>
            </a: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Browse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关联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Init File</a:t>
            </a:r>
            <a:endParaRPr lang="zh-CN" altLang="en-US" sz="1600" dirty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47111" name="AutoShape 8"/>
          <p:cNvSpPr>
            <a:spLocks noChangeArrowheads="1"/>
          </p:cNvSpPr>
          <p:nvPr/>
        </p:nvSpPr>
        <p:spPr bwMode="auto">
          <a:xfrm>
            <a:off x="9548815" y="4905379"/>
            <a:ext cx="868363" cy="936625"/>
          </a:xfrm>
          <a:prstGeom prst="wedgeRoundRectCallout">
            <a:avLst>
              <a:gd name="adj1" fmla="val -80343"/>
              <a:gd name="adj2" fmla="val 115060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最后点击生成</a:t>
            </a:r>
          </a:p>
        </p:txBody>
      </p:sp>
      <p:sp>
        <p:nvSpPr>
          <p:cNvPr id="47112" name="AutoShape 8"/>
          <p:cNvSpPr>
            <a:spLocks noChangeArrowheads="1"/>
          </p:cNvSpPr>
          <p:nvPr/>
        </p:nvSpPr>
        <p:spPr bwMode="auto">
          <a:xfrm>
            <a:off x="1743995" y="3321053"/>
            <a:ext cx="1654175" cy="360363"/>
          </a:xfrm>
          <a:prstGeom prst="wedgeRoundRectCallout">
            <a:avLst>
              <a:gd name="adj1" fmla="val 75148"/>
              <a:gd name="adj2" fmla="val -18241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查看</a:t>
            </a: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Datasheet</a:t>
            </a:r>
            <a:endParaRPr lang="zh-CN" altLang="en-US" sz="1600" dirty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52DD437A-D927-4CD4-8ACE-6D581FC26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217" y="2852738"/>
            <a:ext cx="1072386" cy="576263"/>
          </a:xfrm>
          <a:prstGeom prst="wedgeRoundRectCallout">
            <a:avLst>
              <a:gd name="adj1" fmla="val -54037"/>
              <a:gd name="adj2" fmla="val 182189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Coe</a:t>
            </a: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文件的位置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CB6DA1-5497-404B-A438-E52FDF69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624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BE1529F6-F28C-432A-898D-067A3BEA0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624" y="4450036"/>
            <a:ext cx="5944551" cy="18712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C8E0C4-FC3C-4CA9-88D9-8C6FB5C45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124" y="1827215"/>
            <a:ext cx="4019550" cy="26289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992317" y="2852739"/>
            <a:ext cx="4751387" cy="16557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58925" y="1163639"/>
            <a:ext cx="8229600" cy="4895851"/>
          </a:xfrm>
        </p:spPr>
        <p:txBody>
          <a:bodyPr/>
          <a:lstStyle/>
          <a:p>
            <a:pPr lvl="1">
              <a:defRPr/>
            </a:pPr>
            <a:r>
              <a:rPr lang="en-US" altLang="zh-CN" sz="2000" b="1" dirty="0"/>
              <a:t>〖</a:t>
            </a:r>
            <a:r>
              <a:rPr lang="zh-CN" altLang="en-US" sz="2000" b="1" dirty="0"/>
              <a:t>第五步</a:t>
            </a:r>
            <a:r>
              <a:rPr lang="en-US" altLang="zh-CN" sz="2000" b="1" dirty="0"/>
              <a:t>〗</a:t>
            </a:r>
            <a:r>
              <a:rPr lang="zh-CN" altLang="en-US" sz="2000" dirty="0"/>
              <a:t>生成后调用</a:t>
            </a:r>
            <a:endParaRPr lang="en-US" altLang="zh-CN" sz="2000" dirty="0"/>
          </a:p>
          <a:p>
            <a:pPr lvl="2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核生成后在设计窗口出现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ROM_D.xci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模块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点击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Souce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Instantiation Template</a:t>
            </a: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查看核调用结构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ROM_D.veo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lvl="2">
              <a:defRPr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377" lvl="2" indent="0"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ROM_B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your_instance_name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pPr marL="914377" lvl="2" indent="0"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.a(a), 		// input [9 : 0] a</a:t>
            </a:r>
          </a:p>
          <a:p>
            <a:pPr marL="914377" lvl="2" indent="0"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	// output [31 : 0]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377" lvl="2" indent="0"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914377" lvl="2" indent="0">
              <a:buNone/>
              <a:defRPr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核在顶层直接调用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2" name="标题 1"/>
          <p:cNvSpPr>
            <a:spLocks noGrp="1"/>
          </p:cNvSpPr>
          <p:nvPr>
            <p:ph type="title"/>
          </p:nvPr>
        </p:nvSpPr>
        <p:spPr>
          <a:xfrm>
            <a:off x="1754192" y="115891"/>
            <a:ext cx="7005637" cy="955675"/>
          </a:xfrm>
        </p:spPr>
        <p:txBody>
          <a:bodyPr/>
          <a:lstStyle/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>
          <a:xfrm>
            <a:off x="6624640" y="1795750"/>
            <a:ext cx="1772181" cy="14892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35" name="Oval 10"/>
          <p:cNvSpPr>
            <a:spLocks noChangeArrowheads="1"/>
          </p:cNvSpPr>
          <p:nvPr/>
        </p:nvSpPr>
        <p:spPr bwMode="auto">
          <a:xfrm>
            <a:off x="5765537" y="5314133"/>
            <a:ext cx="2289175" cy="219075"/>
          </a:xfrm>
          <a:prstGeom prst="ellipse">
            <a:avLst/>
          </a:prstGeom>
          <a:noFill/>
          <a:ln w="28575">
            <a:solidFill>
              <a:srgbClr val="F3030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cxnSp>
        <p:nvCxnSpPr>
          <p:cNvPr id="10" name="直接箭头连接符 9"/>
          <p:cNvCxnSpPr>
            <a:cxnSpLocks/>
          </p:cNvCxnSpPr>
          <p:nvPr/>
        </p:nvCxnSpPr>
        <p:spPr>
          <a:xfrm>
            <a:off x="5337046" y="2096706"/>
            <a:ext cx="2847187" cy="20523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233B46-D87C-4877-944B-52250D73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317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51092" y="3429000"/>
            <a:ext cx="7273925" cy="2376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9155" name="标题 1"/>
          <p:cNvSpPr>
            <a:spLocks noGrp="1"/>
          </p:cNvSpPr>
          <p:nvPr>
            <p:ph type="title"/>
          </p:nvPr>
        </p:nvSpPr>
        <p:spPr>
          <a:xfrm>
            <a:off x="1754192" y="115891"/>
            <a:ext cx="7005637" cy="95567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ROM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初始化文件：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coe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2313" y="981077"/>
            <a:ext cx="8229600" cy="4895851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ROM.coe</a:t>
            </a:r>
            <a:r>
              <a:rPr lang="zh-CN" altLang="en-US" dirty="0"/>
              <a:t>格式</a:t>
            </a:r>
            <a:endParaRPr lang="en-US" altLang="zh-CN" dirty="0"/>
          </a:p>
          <a:p>
            <a:pPr lvl="1">
              <a:spcBef>
                <a:spcPts val="0"/>
              </a:spcBef>
              <a:defRPr/>
            </a:pPr>
            <a:r>
              <a:rPr lang="zh-CN" altLang="en-US" dirty="0"/>
              <a:t>可以用</a:t>
            </a:r>
            <a:r>
              <a:rPr lang="en-US" altLang="zh-CN" dirty="0"/>
              <a:t>VIVADO</a:t>
            </a:r>
            <a:r>
              <a:rPr lang="zh-CN" altLang="en-US" dirty="0"/>
              <a:t>打开编辑，也可以用普通文本编辑工具</a:t>
            </a:r>
            <a:endParaRPr lang="en-US" altLang="zh-CN" dirty="0"/>
          </a:p>
          <a:p>
            <a:pPr lvl="1">
              <a:spcBef>
                <a:spcPts val="0"/>
              </a:spcBef>
              <a:defRPr/>
            </a:pPr>
            <a:r>
              <a:rPr lang="zh-CN" altLang="en-US" dirty="0"/>
              <a:t>格式如下：</a:t>
            </a:r>
            <a:endParaRPr lang="en-US" altLang="zh-CN" dirty="0"/>
          </a:p>
          <a:p>
            <a:pPr lvl="2">
              <a:lnSpc>
                <a:spcPts val="1800"/>
              </a:lnSpc>
              <a:defRPr/>
            </a:pPr>
            <a:r>
              <a:rPr lang="zh-CN" altLang="en-US" dirty="0"/>
              <a:t>第一行：说明是初始化参数向量采用</a:t>
            </a:r>
            <a:r>
              <a:rPr lang="en-US" altLang="zh-CN" dirty="0"/>
              <a:t>16</a:t>
            </a:r>
            <a:r>
              <a:rPr lang="zh-CN" altLang="en-US" dirty="0"/>
              <a:t>进制（也可以</a:t>
            </a:r>
            <a:r>
              <a:rPr lang="en-US" altLang="zh-CN" dirty="0"/>
              <a:t>2</a:t>
            </a:r>
            <a:r>
              <a:rPr lang="zh-CN" altLang="en-US" dirty="0"/>
              <a:t>进制）</a:t>
            </a:r>
            <a:endParaRPr lang="en-US" altLang="zh-CN" dirty="0"/>
          </a:p>
          <a:p>
            <a:pPr lvl="2">
              <a:lnSpc>
                <a:spcPts val="1800"/>
              </a:lnSpc>
              <a:defRPr/>
            </a:pPr>
            <a:r>
              <a:rPr lang="zh-CN" altLang="en-US" dirty="0"/>
              <a:t>第二行：初始化向量名</a:t>
            </a:r>
            <a:endParaRPr lang="en-US" altLang="zh-CN" dirty="0"/>
          </a:p>
          <a:p>
            <a:pPr lvl="2">
              <a:lnSpc>
                <a:spcPts val="1800"/>
              </a:lnSpc>
              <a:defRPr/>
            </a:pPr>
            <a:r>
              <a:rPr lang="zh-CN" altLang="en-US" dirty="0"/>
              <a:t>第三行开始：初始化向量元素，用逗号“，”分隔，分号结束</a:t>
            </a:r>
            <a:endParaRPr lang="en-US" altLang="zh-CN" dirty="0"/>
          </a:p>
          <a:p>
            <a:pPr lvl="2">
              <a:lnSpc>
                <a:spcPts val="1800"/>
              </a:lnSpc>
              <a:defRPr/>
            </a:pPr>
            <a:r>
              <a:rPr lang="zh-CN" altLang="en-US" dirty="0"/>
              <a:t>文件头、尾部可以用“</a:t>
            </a:r>
            <a:r>
              <a:rPr lang="en-US" altLang="zh-CN" dirty="0"/>
              <a:t>#</a:t>
            </a:r>
            <a:r>
              <a:rPr lang="zh-CN" altLang="en-US" dirty="0"/>
              <a:t>”号加注释，中间不可以</a:t>
            </a:r>
            <a:endParaRPr lang="en-US" altLang="zh-CN" dirty="0"/>
          </a:p>
          <a:p>
            <a:pPr marL="457189" lvl="1" indent="0">
              <a:spcBef>
                <a:spcPts val="0"/>
              </a:spcBef>
              <a:buNone/>
              <a:defRPr/>
            </a:pPr>
            <a:r>
              <a:rPr lang="en-US" altLang="zh-CN" dirty="0" err="1"/>
              <a:t>memory_initialization_radix</a:t>
            </a:r>
            <a:r>
              <a:rPr lang="en-US" altLang="zh-CN" dirty="0"/>
              <a:t>=16;</a:t>
            </a:r>
          </a:p>
          <a:p>
            <a:pPr marL="457189" lvl="1" indent="0">
              <a:spcBef>
                <a:spcPts val="0"/>
              </a:spcBef>
              <a:buNone/>
              <a:defRPr/>
            </a:pPr>
            <a:r>
              <a:rPr lang="en-US" altLang="zh-CN" dirty="0" err="1"/>
              <a:t>memory_initialization_vector</a:t>
            </a:r>
            <a:r>
              <a:rPr lang="en-US" altLang="zh-CN" dirty="0"/>
              <a:t>=</a:t>
            </a:r>
          </a:p>
          <a:p>
            <a:pPr marL="457189" lvl="1" indent="0">
              <a:spcBef>
                <a:spcPts val="0"/>
              </a:spcBef>
              <a:buNone/>
              <a:defRPr/>
            </a:pPr>
            <a:r>
              <a:rPr lang="en-US" altLang="zh-CN" sz="1800" dirty="0"/>
              <a:t>00000000, 11111111, 22222222, 33333333, 44444444, 55555555, 66666666, 77777777, 88888888, 99999999, </a:t>
            </a:r>
            <a:r>
              <a:rPr lang="en-US" altLang="zh-CN" sz="1800" dirty="0" err="1"/>
              <a:t>aaaaaaaa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bbbbbbbb</a:t>
            </a:r>
            <a:r>
              <a:rPr lang="en-US" altLang="zh-CN" sz="1800" dirty="0"/>
              <a:t>, </a:t>
            </a:r>
          </a:p>
          <a:p>
            <a:pPr marL="457189" lvl="1" indent="0">
              <a:spcBef>
                <a:spcPts val="0"/>
              </a:spcBef>
              <a:buNone/>
              <a:defRPr/>
            </a:pPr>
            <a:r>
              <a:rPr lang="en-US" altLang="zh-CN" sz="1800" dirty="0" err="1"/>
              <a:t>cccccccc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dddddddd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eeeeeeee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ffffffff</a:t>
            </a:r>
            <a:r>
              <a:rPr lang="en-US" altLang="zh-CN" sz="1800" dirty="0"/>
              <a:t>, </a:t>
            </a:r>
            <a:r>
              <a:rPr lang="en-US" altLang="zh-CN" sz="1800" dirty="0">
                <a:solidFill>
                  <a:srgbClr val="FF0000"/>
                </a:solidFill>
              </a:rPr>
              <a:t>557EF7E0, D7BDFBD9, D7DBFDB9, DFCFFCFB, DFCFBFFF, F7F3DFFF, FFFFDF3D, FFFF9DB9, FFFFBCFB, DFCFFCFB, DFCFBFFF, D7DB9FFF, D7DBFDB9, D7BDFBD9, FFFF07E0, 007E0FFF, 03bdf020, 03def820, 08002300</a:t>
            </a:r>
            <a:r>
              <a:rPr lang="en-US" altLang="zh-CN" sz="1800" dirty="0"/>
              <a:t>;</a:t>
            </a:r>
          </a:p>
          <a:p>
            <a:pPr marL="400041">
              <a:spcBef>
                <a:spcPts val="600"/>
              </a:spcBef>
              <a:defRPr/>
            </a:pP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7464429" y="6002343"/>
            <a:ext cx="2397125" cy="217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红色数据是</a:t>
            </a:r>
            <a:r>
              <a:rPr lang="en-US" altLang="zh-CN" dirty="0"/>
              <a:t>LED</a:t>
            </a:r>
            <a:r>
              <a:rPr lang="zh-CN" altLang="en-US" dirty="0"/>
              <a:t>图形</a:t>
            </a:r>
          </a:p>
        </p:txBody>
      </p:sp>
      <p:sp>
        <p:nvSpPr>
          <p:cNvPr id="6" name="圆角矩形 4">
            <a:extLst>
              <a:ext uri="{FF2B5EF4-FFF2-40B4-BE49-F238E27FC236}">
                <a16:creationId xmlns:a16="http://schemas.microsoft.com/office/drawing/2014/main" id="{7602D9C7-77D3-4E2B-B271-5001D6786BE6}"/>
              </a:ext>
            </a:extLst>
          </p:cNvPr>
          <p:cNvSpPr/>
          <p:nvPr/>
        </p:nvSpPr>
        <p:spPr>
          <a:xfrm>
            <a:off x="7443785" y="3563371"/>
            <a:ext cx="2397125" cy="217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/>
              <a:t>黑色数据是字符</a:t>
            </a:r>
            <a:r>
              <a:rPr lang="en-US" altLang="zh-CN" dirty="0"/>
              <a:t>0-F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C2E591-9CC0-4F83-BFB5-EE672518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992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62844" y="242715"/>
            <a:ext cx="7869560" cy="792083"/>
          </a:xfrm>
        </p:spPr>
        <p:txBody>
          <a:bodyPr/>
          <a:lstStyle/>
          <a:p>
            <a:r>
              <a:rPr lang="en-US" altLang="zh-CN" dirty="0"/>
              <a:t>RAM_B IP Core-</a:t>
            </a:r>
            <a:r>
              <a:rPr lang="en-US" altLang="zh-CN" dirty="0">
                <a:solidFill>
                  <a:srgbClr val="FF0000"/>
                </a:solidFill>
              </a:rPr>
              <a:t>U3</a:t>
            </a:r>
            <a:endParaRPr lang="zh-CN" altLang="en-US" dirty="0"/>
          </a:p>
        </p:txBody>
      </p:sp>
      <p:sp>
        <p:nvSpPr>
          <p:cNvPr id="11" name="内容占位符 3">
            <a:extLst>
              <a:ext uri="{FF2B5EF4-FFF2-40B4-BE49-F238E27FC236}">
                <a16:creationId xmlns:a16="http://schemas.microsoft.com/office/drawing/2014/main" id="{A17B45B4-90CB-4C6C-A997-F21AAA264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177" y="1126620"/>
            <a:ext cx="8540751" cy="4554215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solidFill>
                  <a:srgbClr val="080808"/>
                </a:solidFill>
              </a:rPr>
              <a:t>用</a:t>
            </a:r>
            <a:r>
              <a:rPr lang="en-US" altLang="zh-CN" sz="2400" dirty="0">
                <a:solidFill>
                  <a:srgbClr val="080808"/>
                </a:solidFill>
              </a:rPr>
              <a:t>IP</a:t>
            </a:r>
            <a:r>
              <a:rPr lang="zh-CN" altLang="en-US" sz="2400" dirty="0">
                <a:solidFill>
                  <a:srgbClr val="080808"/>
                </a:solidFill>
              </a:rPr>
              <a:t>核生成器建立</a:t>
            </a:r>
            <a:r>
              <a:rPr lang="en-US" altLang="zh-CN" sz="2400" dirty="0">
                <a:solidFill>
                  <a:srgbClr val="080808"/>
                </a:solidFill>
              </a:rPr>
              <a:t>1024×32bit</a:t>
            </a:r>
            <a:r>
              <a:rPr lang="zh-CN" altLang="en-US" sz="2400" dirty="0">
                <a:solidFill>
                  <a:srgbClr val="080808"/>
                </a:solidFill>
              </a:rPr>
              <a:t>的</a:t>
            </a:r>
            <a:r>
              <a:rPr lang="en-US" altLang="zh-CN" sz="2400" dirty="0">
                <a:solidFill>
                  <a:srgbClr val="080808"/>
                </a:solidFill>
              </a:rPr>
              <a:t>RAM</a:t>
            </a:r>
            <a:r>
              <a:rPr lang="zh-CN" altLang="en-US" sz="2400" dirty="0">
                <a:solidFill>
                  <a:srgbClr val="080808"/>
                </a:solidFill>
              </a:rPr>
              <a:t>核</a:t>
            </a:r>
          </a:p>
          <a:p>
            <a:pPr lvl="1"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〖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第一步</a:t>
            </a: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〗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VIVADO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集成菜单上从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PROJECT MANAGER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选择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IP Catalog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，将弹出如如下新模块源母板生成向导窗口</a:t>
            </a:r>
            <a:r>
              <a:rPr lang="zh-CN" altLang="en-US" dirty="0">
                <a:solidFill>
                  <a:srgbClr val="080808"/>
                </a:solidFill>
              </a:rPr>
              <a:t>。</a:t>
            </a:r>
            <a:endParaRPr lang="en-US" altLang="zh-CN" b="1" dirty="0">
              <a:latin typeface="Calibri" pitchFamily="34" charset="0"/>
            </a:endParaRPr>
          </a:p>
          <a:p>
            <a:pPr lvl="1">
              <a:spcBef>
                <a:spcPts val="0"/>
              </a:spcBef>
            </a:pP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FBE4EB3-2FA0-44BC-9D01-86163789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11" y="2844305"/>
            <a:ext cx="2428875" cy="19526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EA7A9E5-F101-4FC4-B33B-C3A5796FC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404" y="2741425"/>
            <a:ext cx="6667500" cy="2981325"/>
          </a:xfrm>
          <a:prstGeom prst="rect">
            <a:avLst/>
          </a:prstGeom>
        </p:spPr>
      </p:pic>
      <p:sp>
        <p:nvSpPr>
          <p:cNvPr id="6" name="Oval 10">
            <a:extLst>
              <a:ext uri="{FF2B5EF4-FFF2-40B4-BE49-F238E27FC236}">
                <a16:creationId xmlns:a16="http://schemas.microsoft.com/office/drawing/2014/main" id="{9E038D0F-46B3-4694-A22B-3C87FE128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1905" y="4190171"/>
            <a:ext cx="1871663" cy="647700"/>
          </a:xfrm>
          <a:prstGeom prst="ellipse">
            <a:avLst/>
          </a:prstGeom>
          <a:noFill/>
          <a:ln w="9525">
            <a:solidFill>
              <a:srgbClr val="F3030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A8AC9-D66C-4FCF-AEFE-279292F8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43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30649" y="1124744"/>
            <a:ext cx="8291264" cy="4968552"/>
          </a:xfrm>
        </p:spPr>
        <p:txBody>
          <a:bodyPr/>
          <a:lstStyle/>
          <a:p>
            <a:pPr lvl="1"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〖</a:t>
            </a:r>
            <a:r>
              <a:rPr lang="zh-CN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第二步</a:t>
            </a:r>
            <a:r>
              <a:rPr lang="en-US" altLang="zh-CN" b="1" dirty="0">
                <a:solidFill>
                  <a:srgbClr val="000000"/>
                </a:solidFill>
                <a:cs typeface="Times New Roman" panose="02020603050405020304" pitchFamily="18" charset="0"/>
              </a:rPr>
              <a:t>〗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点击搜索栏，输入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memory generator</a:t>
            </a:r>
            <a:endParaRPr lang="zh-CN" altLang="en-US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2">
              <a:spcBef>
                <a:spcPts val="0"/>
              </a:spcBef>
              <a:defRPr/>
            </a:pPr>
            <a:r>
              <a:rPr lang="zh-CN" altLang="en-US" sz="2200" dirty="0">
                <a:solidFill>
                  <a:srgbClr val="000000"/>
                </a:solidFill>
                <a:cs typeface="Times New Roman" panose="02020603050405020304" pitchFamily="18" charset="0"/>
              </a:rPr>
              <a:t>选择</a:t>
            </a:r>
            <a:r>
              <a:rPr lang="en-US" altLang="zh-CN" dirty="0"/>
              <a:t>Block Memory Generator (</a:t>
            </a:r>
            <a:r>
              <a:rPr lang="zh-CN" altLang="en-US" dirty="0">
                <a:solidFill>
                  <a:srgbClr val="FF0000"/>
                </a:solidFill>
              </a:rPr>
              <a:t>注意：有时钟</a:t>
            </a:r>
            <a:r>
              <a:rPr lang="zh-CN" altLang="en-US" dirty="0"/>
              <a:t>）</a:t>
            </a:r>
            <a:endParaRPr lang="en-US" altLang="zh-CN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EC4E6F-33E7-4598-9823-E623D81A6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268" y="1844968"/>
            <a:ext cx="8997927" cy="3888288"/>
          </a:xfrm>
          <a:prstGeom prst="rect">
            <a:avLst/>
          </a:prstGeom>
        </p:spPr>
      </p:pic>
      <p:sp>
        <p:nvSpPr>
          <p:cNvPr id="8" name="Oval 10">
            <a:extLst>
              <a:ext uri="{FF2B5EF4-FFF2-40B4-BE49-F238E27FC236}">
                <a16:creationId xmlns:a16="http://schemas.microsoft.com/office/drawing/2014/main" id="{94783F40-ACCA-4B79-A69C-9F652ADCC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576" y="3429001"/>
            <a:ext cx="1440160" cy="504825"/>
          </a:xfrm>
          <a:prstGeom prst="ellipse">
            <a:avLst/>
          </a:prstGeom>
          <a:noFill/>
          <a:ln w="19050">
            <a:solidFill>
              <a:srgbClr val="F3030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1BFE84-3979-44B9-93C9-D4841D9C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9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EE5AB4-110D-DCC1-DCB5-BF2574E81979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IP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E8FA73-2C6F-CDF1-5394-EA8580D167C8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IP</a:t>
            </a:r>
          </a:p>
        </p:txBody>
      </p:sp>
    </p:spTree>
    <p:extLst>
      <p:ext uri="{BB962C8B-B14F-4D97-AF65-F5344CB8AC3E}">
        <p14:creationId xmlns:p14="http://schemas.microsoft.com/office/powerpoint/2010/main" val="283753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9719A43-F740-49CB-98FB-19EBEBADB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512" y="1484784"/>
            <a:ext cx="7380312" cy="50164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124744"/>
            <a:ext cx="8229600" cy="4968552"/>
          </a:xfrm>
        </p:spPr>
        <p:txBody>
          <a:bodyPr/>
          <a:lstStyle/>
          <a:p>
            <a:pPr lvl="1">
              <a:defRPr/>
            </a:pPr>
            <a:r>
              <a:rPr lang="en-US" altLang="zh-CN" sz="2000" b="1" dirty="0"/>
              <a:t>〖</a:t>
            </a:r>
            <a:r>
              <a:rPr lang="zh-CN" altLang="en-US" sz="2000" b="1" dirty="0"/>
              <a:t>第三步</a:t>
            </a:r>
            <a:r>
              <a:rPr lang="en-US" altLang="zh-CN" sz="2000" b="1" dirty="0"/>
              <a:t>〗</a:t>
            </a:r>
            <a:r>
              <a:rPr lang="zh-CN" altLang="en-US" sz="2000" dirty="0"/>
              <a:t>核参数设置</a:t>
            </a:r>
          </a:p>
        </p:txBody>
      </p:sp>
      <p:sp>
        <p:nvSpPr>
          <p:cNvPr id="5" name="AutoShape 14"/>
          <p:cNvSpPr>
            <a:spLocks noChangeArrowheads="1"/>
          </p:cNvSpPr>
          <p:nvPr/>
        </p:nvSpPr>
        <p:spPr bwMode="auto">
          <a:xfrm>
            <a:off x="8759828" y="4155658"/>
            <a:ext cx="1874839" cy="720725"/>
          </a:xfrm>
          <a:prstGeom prst="wedgeRoundRectCallout">
            <a:avLst>
              <a:gd name="adj1" fmla="val -201493"/>
              <a:gd name="adj2" fmla="val -127852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下拉选择：</a:t>
            </a:r>
            <a:endParaRPr lang="en-US" altLang="zh-CN" sz="1600" dirty="0">
              <a:solidFill>
                <a:srgbClr val="080808"/>
              </a:solidFill>
              <a:latin typeface="Arial" panose="020B0604020202020204" pitchFamily="34" charset="0"/>
            </a:endParaRPr>
          </a:p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单端口</a:t>
            </a: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RAM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BE57E9-95BD-4007-9BC2-CA7390FE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6813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442529ED-2AD4-4276-A28B-78DB1FC5E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061" y="1290872"/>
            <a:ext cx="7740352" cy="57531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070992"/>
            <a:ext cx="8229600" cy="4968552"/>
          </a:xfrm>
        </p:spPr>
        <p:txBody>
          <a:bodyPr/>
          <a:lstStyle/>
          <a:p>
            <a:pPr lvl="1">
              <a:spcBef>
                <a:spcPts val="0"/>
              </a:spcBef>
              <a:defRPr/>
            </a:pPr>
            <a:r>
              <a:rPr lang="en-US" altLang="zh-CN" sz="2000" b="1" dirty="0"/>
              <a:t>〖</a:t>
            </a:r>
            <a:r>
              <a:rPr lang="zh-CN" altLang="en-US" sz="2000" b="1" dirty="0"/>
              <a:t>第三步</a:t>
            </a:r>
            <a:r>
              <a:rPr lang="en-US" altLang="zh-CN" sz="2000" b="1" dirty="0"/>
              <a:t>〗</a:t>
            </a:r>
            <a:r>
              <a:rPr lang="zh-CN" altLang="en-US" sz="2000" dirty="0"/>
              <a:t>核参数设置</a:t>
            </a:r>
          </a:p>
          <a:p>
            <a:pPr marL="914377" lvl="2" indent="0">
              <a:spcBef>
                <a:spcPts val="0"/>
              </a:spcBef>
              <a:buNone/>
              <a:defRPr/>
            </a:pP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5" name="AutoShape 15"/>
          <p:cNvSpPr>
            <a:spLocks noChangeArrowheads="1"/>
          </p:cNvSpPr>
          <p:nvPr/>
        </p:nvSpPr>
        <p:spPr bwMode="auto">
          <a:xfrm>
            <a:off x="9440863" y="5084765"/>
            <a:ext cx="696912" cy="412751"/>
          </a:xfrm>
          <a:prstGeom prst="wedgeRoundRectCallout">
            <a:avLst>
              <a:gd name="adj1" fmla="val -246679"/>
              <a:gd name="adj2" fmla="val 366068"/>
              <a:gd name="adj3" fmla="val 16667"/>
            </a:avLst>
          </a:prstGeom>
          <a:noFill/>
          <a:ln w="9525">
            <a:solidFill>
              <a:srgbClr val="F3030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080808"/>
                </a:solidFill>
                <a:latin typeface="Arial" panose="020B0604020202020204" pitchFamily="34" charset="0"/>
              </a:rPr>
              <a:t>点击</a:t>
            </a:r>
          </a:p>
        </p:txBody>
      </p:sp>
      <p:sp>
        <p:nvSpPr>
          <p:cNvPr id="6" name="Oval 10"/>
          <p:cNvSpPr>
            <a:spLocks noChangeArrowheads="1"/>
          </p:cNvSpPr>
          <p:nvPr/>
        </p:nvSpPr>
        <p:spPr bwMode="auto">
          <a:xfrm>
            <a:off x="4655841" y="3141341"/>
            <a:ext cx="1584176" cy="647700"/>
          </a:xfrm>
          <a:prstGeom prst="ellipse">
            <a:avLst/>
          </a:prstGeom>
          <a:noFill/>
          <a:ln w="9525">
            <a:solidFill>
              <a:srgbClr val="F3030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latin typeface="Arial" panose="020B0604020202020204" pitchFamily="34" charset="0"/>
            </a:endParaRPr>
          </a:p>
        </p:txBody>
      </p:sp>
      <p:sp>
        <p:nvSpPr>
          <p:cNvPr id="7" name="AutoShape 14"/>
          <p:cNvSpPr>
            <a:spLocks noChangeArrowheads="1"/>
          </p:cNvSpPr>
          <p:nvPr/>
        </p:nvSpPr>
        <p:spPr bwMode="auto">
          <a:xfrm>
            <a:off x="8734235" y="2296792"/>
            <a:ext cx="1907704" cy="844551"/>
          </a:xfrm>
          <a:prstGeom prst="wedgeRoundRectCallout">
            <a:avLst>
              <a:gd name="adj1" fmla="val -174972"/>
              <a:gd name="adj2" fmla="val 6793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填入：</a:t>
            </a:r>
            <a:endParaRPr lang="en-US" altLang="zh-CN" sz="1600" dirty="0">
              <a:solidFill>
                <a:srgbClr val="080808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Width  32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Depth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8832305" y="4167464"/>
            <a:ext cx="1828872" cy="657225"/>
          </a:xfrm>
          <a:prstGeom prst="wedgeRoundRectCallout">
            <a:avLst>
              <a:gd name="adj1" fmla="val -107399"/>
              <a:gd name="adj2" fmla="val 33108"/>
              <a:gd name="adj3" fmla="val 16667"/>
            </a:avLst>
          </a:prstGeom>
          <a:noFill/>
          <a:ln w="9525">
            <a:solidFill>
              <a:srgbClr val="F3030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rgbClr val="080808"/>
                </a:solidFill>
                <a:latin typeface="Arial" panose="020B0604020202020204" pitchFamily="34" charset="0"/>
              </a:rPr>
              <a:t>选择：</a:t>
            </a:r>
            <a:endParaRPr lang="en-US" altLang="zh-CN" sz="1600" dirty="0">
              <a:solidFill>
                <a:srgbClr val="080808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80808"/>
                </a:solidFill>
                <a:latin typeface="Arial" panose="020B0604020202020204" pitchFamily="34" charset="0"/>
              </a:rPr>
              <a:t>Always Enabled</a:t>
            </a:r>
            <a:endParaRPr lang="zh-CN" altLang="en-US" sz="1600" dirty="0">
              <a:solidFill>
                <a:srgbClr val="080808"/>
              </a:solidFill>
              <a:latin typeface="Arial" panose="020B0604020202020204" pitchFamily="34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1EA08E-181C-4F2E-B22B-631E863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11</a:t>
            </a:fld>
            <a:endParaRPr lang="zh-CN" altLang="en-US" dirty="0"/>
          </a:p>
        </p:txBody>
      </p:sp>
      <p:sp>
        <p:nvSpPr>
          <p:cNvPr id="11" name="AutoShape 15">
            <a:extLst>
              <a:ext uri="{FF2B5EF4-FFF2-40B4-BE49-F238E27FC236}">
                <a16:creationId xmlns:a16="http://schemas.microsoft.com/office/drawing/2014/main" id="{0975C930-33F5-4FA5-AEC8-2A13A2B55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903" y="5787008"/>
            <a:ext cx="756729" cy="569346"/>
          </a:xfrm>
          <a:prstGeom prst="wedgeRoundRectCallout">
            <a:avLst>
              <a:gd name="adj1" fmla="val 263794"/>
              <a:gd name="adj2" fmla="val -130013"/>
              <a:gd name="adj3" fmla="val 16667"/>
            </a:avLst>
          </a:prstGeom>
          <a:noFill/>
          <a:ln w="9525">
            <a:solidFill>
              <a:srgbClr val="F3030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不要勾选</a:t>
            </a:r>
          </a:p>
        </p:txBody>
      </p:sp>
    </p:spTree>
    <p:extLst>
      <p:ext uri="{BB962C8B-B14F-4D97-AF65-F5344CB8AC3E}">
        <p14:creationId xmlns:p14="http://schemas.microsoft.com/office/powerpoint/2010/main" val="225296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6986D3F-78C5-4BEB-9BCB-3477103B6F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38"/>
          <a:stretch/>
        </p:blipFill>
        <p:spPr>
          <a:xfrm>
            <a:off x="7032107" y="1149003"/>
            <a:ext cx="3765104" cy="320271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992193" y="2544763"/>
            <a:ext cx="5039915" cy="2108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ts val="1400"/>
              </a:lnSpc>
              <a:defRPr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0" y="1268760"/>
            <a:ext cx="8229600" cy="4968552"/>
          </a:xfrm>
        </p:spPr>
        <p:txBody>
          <a:bodyPr/>
          <a:lstStyle/>
          <a:p>
            <a:pPr lvl="1">
              <a:spcBef>
                <a:spcPts val="0"/>
              </a:spcBef>
              <a:defRPr/>
            </a:pPr>
            <a:r>
              <a:rPr lang="en-US" altLang="zh-CN" sz="2000" b="1" dirty="0"/>
              <a:t>〖</a:t>
            </a:r>
            <a:r>
              <a:rPr lang="zh-CN" altLang="en-US" sz="2000" b="1" dirty="0"/>
              <a:t>第四步</a:t>
            </a:r>
            <a:r>
              <a:rPr lang="en-US" altLang="zh-CN" sz="2000" b="1" dirty="0"/>
              <a:t>〗</a:t>
            </a:r>
            <a:r>
              <a:rPr lang="zh-CN" altLang="en-US" sz="2000" dirty="0"/>
              <a:t>生成后调用</a:t>
            </a:r>
            <a:endParaRPr lang="en-US" altLang="zh-CN" sz="2000" dirty="0"/>
          </a:p>
          <a:p>
            <a:pPr lvl="2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核生成后在设计窗口出现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RAM_B.xci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模块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点击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Souce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Instantiation Template</a:t>
            </a: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查看核调用结构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RAM.veo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cs typeface="Times New Roman" panose="02020603050405020304" pitchFamily="18" charset="0"/>
              </a:rPr>
              <a:t>	</a:t>
            </a:r>
          </a:p>
          <a:p>
            <a:pPr marL="914377" lvl="2" indent="0">
              <a:spcBef>
                <a:spcPts val="0"/>
              </a:spcBef>
              <a:buNone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		</a:t>
            </a:r>
          </a:p>
          <a:p>
            <a:pPr marL="114297" indent="0">
              <a:lnSpc>
                <a:spcPts val="2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Times New Roman" panose="02020603050405020304" pitchFamily="18" charset="0"/>
              </a:rPr>
              <a:t>RAM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U3</a:t>
            </a:r>
            <a:r>
              <a:rPr lang="en-US" altLang="zh-CN" sz="2000" dirty="0">
                <a:cs typeface="Times New Roman" panose="02020603050405020304" pitchFamily="18" charset="0"/>
              </a:rPr>
              <a:t> (</a:t>
            </a:r>
          </a:p>
          <a:p>
            <a:pPr marL="514338" lvl="1" indent="0">
              <a:lnSpc>
                <a:spcPts val="2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Times New Roman" panose="02020603050405020304" pitchFamily="18" charset="0"/>
              </a:rPr>
              <a:t>  .</a:t>
            </a:r>
            <a:r>
              <a:rPr lang="en-US" altLang="zh-CN" sz="2000" dirty="0" err="1">
                <a:cs typeface="Times New Roman" panose="02020603050405020304" pitchFamily="18" charset="0"/>
              </a:rPr>
              <a:t>clka</a:t>
            </a:r>
            <a:r>
              <a:rPr lang="en-US" altLang="zh-CN" sz="2000" dirty="0">
                <a:cs typeface="Times New Roman" panose="02020603050405020304" pitchFamily="18" charset="0"/>
              </a:rPr>
              <a:t>(</a:t>
            </a:r>
            <a:r>
              <a:rPr lang="en-US" altLang="zh-CN" sz="2000" dirty="0" err="1"/>
              <a:t>clk_m</a:t>
            </a:r>
            <a:r>
              <a:rPr lang="en-US" altLang="zh-CN" sz="2000" dirty="0">
                <a:cs typeface="Times New Roman" panose="02020603050405020304" pitchFamily="18" charset="0"/>
              </a:rPr>
              <a:t>), 	  // input </a:t>
            </a:r>
            <a:r>
              <a:rPr lang="en-US" altLang="zh-CN" sz="2000" dirty="0" err="1">
                <a:cs typeface="Times New Roman" panose="02020603050405020304" pitchFamily="18" charset="0"/>
              </a:rPr>
              <a:t>clka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514338" lvl="1" indent="0">
              <a:lnSpc>
                <a:spcPts val="2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Times New Roman" panose="02020603050405020304" pitchFamily="18" charset="0"/>
              </a:rPr>
              <a:t>  .</a:t>
            </a:r>
            <a:r>
              <a:rPr lang="en-US" altLang="zh-CN" sz="2000" dirty="0" err="1">
                <a:cs typeface="Times New Roman" panose="02020603050405020304" pitchFamily="18" charset="0"/>
              </a:rPr>
              <a:t>wea</a:t>
            </a:r>
            <a:r>
              <a:rPr lang="en-US" altLang="zh-CN" sz="2000" dirty="0">
                <a:cs typeface="Times New Roman" panose="02020603050405020304" pitchFamily="18" charset="0"/>
              </a:rPr>
              <a:t>(</a:t>
            </a:r>
            <a:r>
              <a:rPr lang="en-US" altLang="zh-CN" sz="2000" dirty="0" err="1"/>
              <a:t>data_ram_we</a:t>
            </a:r>
            <a:r>
              <a:rPr lang="en-US" altLang="zh-CN" sz="2000" dirty="0">
                <a:cs typeface="Times New Roman" panose="02020603050405020304" pitchFamily="18" charset="0"/>
              </a:rPr>
              <a:t>),  // input [0 : 0] </a:t>
            </a:r>
            <a:r>
              <a:rPr lang="en-US" altLang="zh-CN" sz="2000" dirty="0" err="1">
                <a:cs typeface="Times New Roman" panose="02020603050405020304" pitchFamily="18" charset="0"/>
              </a:rPr>
              <a:t>wea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514338" lvl="1" indent="0">
              <a:lnSpc>
                <a:spcPts val="2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Times New Roman" panose="02020603050405020304" pitchFamily="18" charset="0"/>
              </a:rPr>
              <a:t>  .</a:t>
            </a:r>
            <a:r>
              <a:rPr lang="en-US" altLang="zh-CN" sz="2000" dirty="0" err="1">
                <a:cs typeface="Times New Roman" panose="02020603050405020304" pitchFamily="18" charset="0"/>
              </a:rPr>
              <a:t>addra</a:t>
            </a:r>
            <a:r>
              <a:rPr lang="en-US" altLang="zh-CN" sz="2000" dirty="0">
                <a:cs typeface="Times New Roman" panose="02020603050405020304" pitchFamily="18" charset="0"/>
              </a:rPr>
              <a:t>(</a:t>
            </a:r>
            <a:r>
              <a:rPr lang="en-US" altLang="zh-CN" sz="2000" dirty="0" err="1"/>
              <a:t>ram_addr</a:t>
            </a:r>
            <a:r>
              <a:rPr lang="en-US" altLang="zh-CN" sz="2000" dirty="0">
                <a:cs typeface="Times New Roman" panose="02020603050405020304" pitchFamily="18" charset="0"/>
              </a:rPr>
              <a:t>),      // input [9 : 0] </a:t>
            </a:r>
            <a:r>
              <a:rPr lang="en-US" altLang="zh-CN" sz="2000" dirty="0" err="1">
                <a:cs typeface="Times New Roman" panose="02020603050405020304" pitchFamily="18" charset="0"/>
              </a:rPr>
              <a:t>addra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514338" lvl="1" indent="0">
              <a:lnSpc>
                <a:spcPts val="2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Times New Roman" panose="02020603050405020304" pitchFamily="18" charset="0"/>
              </a:rPr>
              <a:t>  .</a:t>
            </a:r>
            <a:r>
              <a:rPr lang="en-US" altLang="zh-CN" sz="2000" dirty="0" err="1">
                <a:cs typeface="Times New Roman" panose="02020603050405020304" pitchFamily="18" charset="0"/>
              </a:rPr>
              <a:t>dina</a:t>
            </a:r>
            <a:r>
              <a:rPr lang="en-US" altLang="zh-CN" sz="2000" dirty="0">
                <a:cs typeface="Times New Roman" panose="02020603050405020304" pitchFamily="18" charset="0"/>
              </a:rPr>
              <a:t>(</a:t>
            </a:r>
            <a:r>
              <a:rPr lang="en-US" altLang="zh-CN" sz="2000" dirty="0" err="1"/>
              <a:t>ram_data_in</a:t>
            </a:r>
            <a:r>
              <a:rPr lang="en-US" altLang="zh-CN" sz="2000" dirty="0">
                <a:cs typeface="Times New Roman" panose="02020603050405020304" pitchFamily="18" charset="0"/>
              </a:rPr>
              <a:t>),   // input [31:0] </a:t>
            </a:r>
            <a:r>
              <a:rPr lang="en-US" altLang="zh-CN" sz="2000" dirty="0" err="1">
                <a:cs typeface="Times New Roman" panose="02020603050405020304" pitchFamily="18" charset="0"/>
              </a:rPr>
              <a:t>dina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514338" lvl="1" indent="0">
              <a:lnSpc>
                <a:spcPts val="2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Times New Roman" panose="02020603050405020304" pitchFamily="18" charset="0"/>
              </a:rPr>
              <a:t>  .</a:t>
            </a:r>
            <a:r>
              <a:rPr lang="en-US" altLang="zh-CN" sz="2000" dirty="0" err="1">
                <a:cs typeface="Times New Roman" panose="02020603050405020304" pitchFamily="18" charset="0"/>
              </a:rPr>
              <a:t>douta</a:t>
            </a:r>
            <a:r>
              <a:rPr lang="en-US" altLang="zh-CN" sz="2000" dirty="0">
                <a:cs typeface="Times New Roman" panose="02020603050405020304" pitchFamily="18" charset="0"/>
              </a:rPr>
              <a:t>(</a:t>
            </a:r>
            <a:r>
              <a:rPr lang="en-US" altLang="zh-CN" sz="2000" dirty="0" err="1"/>
              <a:t>ram_data_out</a:t>
            </a:r>
            <a:r>
              <a:rPr lang="en-US" altLang="zh-CN" sz="2000" dirty="0">
                <a:cs typeface="Times New Roman" panose="02020603050405020304" pitchFamily="18" charset="0"/>
              </a:rPr>
              <a:t>)// output [31:0] </a:t>
            </a:r>
            <a:r>
              <a:rPr lang="en-US" altLang="zh-CN" sz="2000" dirty="0" err="1">
                <a:cs typeface="Times New Roman" panose="02020603050405020304" pitchFamily="18" charset="0"/>
              </a:rPr>
              <a:t>douta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514338" lvl="1" indent="0">
              <a:lnSpc>
                <a:spcPts val="2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Times New Roman" panose="02020603050405020304" pitchFamily="18" charset="0"/>
              </a:rPr>
              <a:t>   );</a:t>
            </a:r>
          </a:p>
          <a:p>
            <a:pPr marL="914377" lvl="2" indent="0">
              <a:lnSpc>
                <a:spcPts val="2000"/>
              </a:lnSpc>
              <a:spcBef>
                <a:spcPts val="0"/>
              </a:spcBef>
              <a:buNone/>
              <a:defRPr/>
            </a:pPr>
            <a:endParaRPr lang="en-US" altLang="zh-CN" sz="1000"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此</a:t>
            </a:r>
            <a:r>
              <a:rPr lang="en-US" altLang="zh-CN" sz="2400" dirty="0">
                <a:cs typeface="Times New Roman" panose="02020603050405020304" pitchFamily="18" charset="0"/>
              </a:rPr>
              <a:t>RAM</a:t>
            </a:r>
            <a:r>
              <a:rPr lang="zh-CN" altLang="en-US" sz="2400" dirty="0">
                <a:cs typeface="Times New Roman" panose="02020603050405020304" pitchFamily="18" charset="0"/>
              </a:rPr>
              <a:t>核在顶层模块中调用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初始化内容与之前</a:t>
            </a:r>
            <a:r>
              <a:rPr lang="en-US" altLang="zh-CN" sz="2400" dirty="0">
                <a:cs typeface="Times New Roman" panose="02020603050405020304" pitchFamily="18" charset="0"/>
              </a:rPr>
              <a:t>ROM</a:t>
            </a:r>
            <a:r>
              <a:rPr lang="zh-CN" altLang="en-US" sz="2400" dirty="0">
                <a:cs typeface="Times New Roman" panose="02020603050405020304" pitchFamily="18" charset="0"/>
              </a:rPr>
              <a:t>相同</a:t>
            </a:r>
            <a:endParaRPr lang="zh-CN" altLang="en-US" dirty="0"/>
          </a:p>
        </p:txBody>
      </p:sp>
      <p:cxnSp>
        <p:nvCxnSpPr>
          <p:cNvPr id="7" name="直接箭头连接符 6"/>
          <p:cNvCxnSpPr>
            <a:cxnSpLocks/>
          </p:cNvCxnSpPr>
          <p:nvPr/>
        </p:nvCxnSpPr>
        <p:spPr>
          <a:xfrm>
            <a:off x="4903790" y="2286001"/>
            <a:ext cx="3136427" cy="8874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0FBEFD18-8A80-46CF-B71C-013BA4D04F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83"/>
          <a:stretch/>
        </p:blipFill>
        <p:spPr>
          <a:xfrm>
            <a:off x="7051759" y="3642896"/>
            <a:ext cx="3765104" cy="2705408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C5E7D-21A7-4AA7-A94F-1B9F34EE2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Chapter 1   </a:t>
            </a:r>
            <a:fld id="{5EFF9C44-2717-445B-8E50-0551D6089AAB}" type="slidenum">
              <a:rPr lang="zh-CN" altLang="en-US" smtClean="0"/>
              <a:pPr>
                <a:defRPr/>
              </a:pPr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3458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EE3E0-9D4B-495E-BF36-12493202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EA7E2E-1409-4EA3-9F1F-6B9F3354ED01}" type="datetime1">
              <a:rPr lang="zh-CN" altLang="en-US">
                <a:solidFill>
                  <a:prstClr val="black">
                    <a:tint val="75000"/>
                  </a:prstClr>
                </a:solidFill>
                <a:latin typeface="Arial" pitchFamily="34" charset="0"/>
                <a:ea typeface="宋体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2025/11/6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9FE03D-4D9B-427E-9AB6-65D40ED73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prstClr val="black">
                    <a:tint val="75000"/>
                  </a:prstClr>
                </a:solidFill>
                <a:latin typeface="Arial" pitchFamily="34" charset="0"/>
                <a:ea typeface="宋体" pitchFamily="2" charset="-122"/>
              </a:rPr>
              <a:t>Chapter 8</a:t>
            </a:r>
            <a:endParaRPr lang="zh-CN" altLang="en-US" dirty="0">
              <a:solidFill>
                <a:prstClr val="black">
                  <a:tint val="75000"/>
                </a:prstClr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DB7ECB-AAB2-46D2-AF5A-30780DBF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12424" y="6356351"/>
            <a:ext cx="432048" cy="365125"/>
          </a:xfrm>
        </p:spPr>
        <p:txBody>
          <a:bodyPr/>
          <a:lstStyle/>
          <a:p>
            <a:pPr>
              <a:defRPr/>
            </a:pPr>
            <a:fld id="{E33EF05B-8639-4FE9-B5BA-9F5366123591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13</a:t>
            </a:fld>
            <a:endParaRPr lang="zh-CN" altLang="en-US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A29206B3-0A79-43B7-A092-73C3192B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75" y="158750"/>
            <a:ext cx="8733656" cy="954360"/>
          </a:xfrm>
        </p:spPr>
        <p:txBody>
          <a:bodyPr>
            <a:normAutofit/>
          </a:bodyPr>
          <a:lstStyle/>
          <a:p>
            <a:r>
              <a:rPr lang="en-US" altLang="zh-CN" dirty="0"/>
              <a:t>Question: RAM</a:t>
            </a:r>
            <a:r>
              <a:rPr lang="zh-CN" altLang="en-US" dirty="0"/>
              <a:t>的生成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FF528B57-DE04-4FAE-99CB-DA6FEF8EF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68760"/>
            <a:ext cx="8229600" cy="4968552"/>
          </a:xfrm>
        </p:spPr>
        <p:txBody>
          <a:bodyPr/>
          <a:lstStyle/>
          <a:p>
            <a:pPr>
              <a:spcBef>
                <a:spcPts val="0"/>
              </a:spcBef>
              <a:buClr>
                <a:srgbClr val="4BACC6">
                  <a:lumMod val="75000"/>
                </a:srgbClr>
              </a:buClr>
            </a:pPr>
            <a:r>
              <a:rPr lang="en-US" altLang="zh-CN" dirty="0">
                <a:solidFill>
                  <a:schemeClr val="tx1"/>
                </a:solidFill>
              </a:rPr>
              <a:t>RAM</a:t>
            </a:r>
            <a:r>
              <a:rPr lang="zh-CN" altLang="en-US" dirty="0">
                <a:solidFill>
                  <a:schemeClr val="tx1"/>
                </a:solidFill>
              </a:rPr>
              <a:t>的生成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spcBef>
                <a:spcPts val="0"/>
              </a:spcBef>
              <a:buClr>
                <a:srgbClr val="4BACC6">
                  <a:lumMod val="75000"/>
                </a:srgbClr>
              </a:buClr>
            </a:pPr>
            <a:r>
              <a:rPr lang="zh-CN" altLang="en-US" dirty="0">
                <a:solidFill>
                  <a:srgbClr val="FF0000"/>
                </a:solidFill>
              </a:rPr>
              <a:t>如图所示，默认的输出端口会勾选输出寄存器，导致数据会往后延迟一个时钟周期，所以应该不勾选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3774E4-C2EF-4027-9E19-F53F67D99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711" y="3241419"/>
            <a:ext cx="4146756" cy="31765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0D9FB94-4DD4-44F5-AACF-90F034B3B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039" y="3241419"/>
            <a:ext cx="4668600" cy="348005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F098C7C-517D-4F92-8BB6-BC05F13F12A2}"/>
              </a:ext>
            </a:extLst>
          </p:cNvPr>
          <p:cNvSpPr/>
          <p:nvPr/>
        </p:nvSpPr>
        <p:spPr>
          <a:xfrm>
            <a:off x="4623320" y="3645024"/>
            <a:ext cx="553800" cy="864096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61ED1C-A4C3-44B1-B656-0F65A603E278}"/>
              </a:ext>
            </a:extLst>
          </p:cNvPr>
          <p:cNvSpPr/>
          <p:nvPr/>
        </p:nvSpPr>
        <p:spPr>
          <a:xfrm>
            <a:off x="7266900" y="5373216"/>
            <a:ext cx="989340" cy="504056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1" name="AutoShape 15">
            <a:extLst>
              <a:ext uri="{FF2B5EF4-FFF2-40B4-BE49-F238E27FC236}">
                <a16:creationId xmlns:a16="http://schemas.microsoft.com/office/drawing/2014/main" id="{95DE5B85-6E67-455F-815D-27CFBCD7A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6942" y="3792399"/>
            <a:ext cx="756729" cy="569346"/>
          </a:xfrm>
          <a:prstGeom prst="wedgeRoundRectCallout">
            <a:avLst>
              <a:gd name="adj1" fmla="val -168731"/>
              <a:gd name="adj2" fmla="val 239229"/>
              <a:gd name="adj3" fmla="val 16667"/>
            </a:avLst>
          </a:prstGeom>
          <a:noFill/>
          <a:ln w="9525">
            <a:solidFill>
              <a:srgbClr val="F3030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不要勾选</a:t>
            </a:r>
          </a:p>
        </p:txBody>
      </p:sp>
    </p:spTree>
    <p:extLst>
      <p:ext uri="{BB962C8B-B14F-4D97-AF65-F5344CB8AC3E}">
        <p14:creationId xmlns:p14="http://schemas.microsoft.com/office/powerpoint/2010/main" val="4164201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5523" y="22527"/>
            <a:ext cx="8540751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r>
              <a:rPr lang="zh-CN" altLang="en-US" sz="3600" b="1" dirty="0">
                <a:solidFill>
                  <a:srgbClr val="3E3EF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（含源文件版）</a:t>
            </a:r>
            <a:endParaRPr lang="zh-CN" altLang="en-US" sz="36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BF3C1F-414A-4414-897C-F74B83ED6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198886"/>
            <a:ext cx="9144000" cy="3816424"/>
          </a:xfrm>
        </p:spPr>
        <p:txBody>
          <a:bodyPr/>
          <a:lstStyle/>
          <a:p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设计要点</a:t>
            </a:r>
            <a:endParaRPr lang="en-US" altLang="zh-CN" sz="200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DD949C-6658-455E-8057-CA360FB9A48B}"/>
              </a:ext>
            </a:extLst>
          </p:cNvPr>
          <p:cNvSpPr txBox="1"/>
          <p:nvPr/>
        </p:nvSpPr>
        <p:spPr>
          <a:xfrm>
            <a:off x="2999656" y="1165527"/>
            <a:ext cx="66713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4BACC6">
                  <a:lumMod val="75000"/>
                </a:srgbClr>
              </a:buClr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拷贝模块的</a:t>
            </a:r>
            <a:r>
              <a:rPr lang="en-US" altLang="zh-CN" dirty="0">
                <a:solidFill>
                  <a:srgbClr val="FF0000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solidFill>
                  <a:srgbClr val="FF0000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核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文件夹到当前工程根目录：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MUX2T1_5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 MUX4T1_5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 MUX2T1_32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 MUX4T1_32</a:t>
            </a:r>
          </a:p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MUX2T1_8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 MUX8T1_8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 MUX8T1_32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 MUX2T1_64</a:t>
            </a:r>
          </a:p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add_32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ADC32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and32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or32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nor32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srl32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xor32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endParaRPr lang="en-US" altLang="zh-CN" dirty="0">
              <a:solidFill>
                <a:srgbClr val="0000FF"/>
              </a:solidFill>
              <a:latin typeface="Calibri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en-US" altLang="zh-CN" dirty="0">
                <a:solidFill>
                  <a:srgbClr val="0000FF"/>
                </a:solidFill>
                <a:latin typeface="Calibri"/>
                <a:ea typeface="宋体" panose="02010600030101010101" pitchFamily="2" charset="-122"/>
                <a:cs typeface="Times New Roman" panose="02020603050405020304" pitchFamily="18" charset="0"/>
              </a:rPr>
              <a:t>Ext_32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宋体" panose="02010600030101010101" pitchFamily="2" charset="-122"/>
                <a:cs typeface="Times New Roman" panose="02020603050405020304" pitchFamily="18" charset="0"/>
              </a:rPr>
              <a:t>SignalExt_32</a:t>
            </a:r>
            <a:r>
              <a:rPr lang="zh-CN" altLang="en-US" dirty="0">
                <a:solidFill>
                  <a:srgbClr val="0000FF"/>
                </a:solidFill>
                <a:latin typeface="Calibri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alibri"/>
                <a:ea typeface="宋体" panose="02010600030101010101" pitchFamily="2" charset="-122"/>
                <a:cs typeface="Times New Roman" panose="02020603050405020304" pitchFamily="18" charset="0"/>
              </a:rPr>
              <a:t>or_bit_32</a:t>
            </a:r>
            <a:endParaRPr lang="en-US" altLang="zh-CN" dirty="0">
              <a:solidFill>
                <a:srgbClr val="0000FF"/>
              </a:solidFill>
              <a:latin typeface="Calibri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CAD3C9-6FA7-4E2D-91EF-BB5ABC55E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148" y="3200068"/>
            <a:ext cx="6115050" cy="11715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0CD0950-5CB1-4458-A50D-1375C9B46725}"/>
              </a:ext>
            </a:extLst>
          </p:cNvPr>
          <p:cNvSpPr txBox="1"/>
          <p:nvPr/>
        </p:nvSpPr>
        <p:spPr>
          <a:xfrm>
            <a:off x="2207568" y="2732131"/>
            <a:ext cx="7031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每个模块的</a:t>
            </a:r>
            <a:r>
              <a:rPr lang="en-US" altLang="zh-CN" dirty="0">
                <a:solidFill>
                  <a:srgbClr val="FF0000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solidFill>
                  <a:srgbClr val="FF0000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核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文件夹都包含</a:t>
            </a:r>
            <a:r>
              <a:rPr lang="en-US" altLang="zh-CN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xgui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component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以及其对应的</a:t>
            </a:r>
            <a:r>
              <a:rPr lang="zh-CN" altLang="en-US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源文件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441EAA-0444-4599-BDD8-E8FE6357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14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88B5B8-AAE7-4732-93BF-C646FECE4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149" y="4315222"/>
            <a:ext cx="1971675" cy="228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745F24C-DA09-43D9-B97E-022A66EF28CD}"/>
              </a:ext>
            </a:extLst>
          </p:cNvPr>
          <p:cNvSpPr txBox="1"/>
          <p:nvPr/>
        </p:nvSpPr>
        <p:spPr>
          <a:xfrm>
            <a:off x="1701978" y="4761451"/>
            <a:ext cx="8640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其调用原理是利用</a:t>
            </a:r>
            <a:r>
              <a:rPr lang="en-US" altLang="zh-CN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xgui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下的</a:t>
            </a:r>
            <a:r>
              <a:rPr lang="en-US" altLang="zh-CN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tcl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脚本根据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xml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特征描述从源文件处重新复制生成工程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zh-CN" altLang="en-US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所需文件</a:t>
            </a:r>
            <a:endParaRPr lang="zh-CN" altLang="en-US" u="sng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146DA1-C6C3-4B20-8070-0A94F460F713}"/>
              </a:ext>
            </a:extLst>
          </p:cNvPr>
          <p:cNvSpPr txBox="1"/>
          <p:nvPr/>
        </p:nvSpPr>
        <p:spPr>
          <a:xfrm>
            <a:off x="1775522" y="5522139"/>
            <a:ext cx="8818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注：</a:t>
            </a:r>
            <a:r>
              <a:rPr lang="en-US" altLang="zh-CN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xml</a:t>
            </a:r>
            <a:r>
              <a:rPr lang="zh-CN" altLang="en-US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文件描述包含源文件的目录位置，若复制源文件时更改了路径位置，则需在</a:t>
            </a:r>
            <a:r>
              <a:rPr lang="en-US" altLang="zh-CN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xml</a:t>
            </a:r>
            <a:r>
              <a:rPr lang="zh-CN" altLang="en-US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描述对应位置进行更新，以免出现调用时无法找到源文件的错误</a:t>
            </a:r>
          </a:p>
        </p:txBody>
      </p:sp>
    </p:spTree>
    <p:extLst>
      <p:ext uri="{BB962C8B-B14F-4D97-AF65-F5344CB8AC3E}">
        <p14:creationId xmlns:p14="http://schemas.microsoft.com/office/powerpoint/2010/main" val="955648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D1785B8-017E-49F0-A154-CF47C026C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84784"/>
            <a:ext cx="9144000" cy="479773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384A040-6041-4BCE-AF33-880A85E28040}"/>
              </a:ext>
            </a:extLst>
          </p:cNvPr>
          <p:cNvSpPr txBox="1"/>
          <p:nvPr/>
        </p:nvSpPr>
        <p:spPr>
          <a:xfrm>
            <a:off x="-1608856" y="531871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br>
              <a:rPr lang="en-US" altLang="zh-CN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</a:br>
            <a:endParaRPr lang="zh-CN" altLang="en-US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CEF2C65-1AA8-4F95-AF8C-728E3672E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3" y="22527"/>
            <a:ext cx="8540751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（含源文件版）</a:t>
            </a:r>
            <a:endParaRPr lang="zh-CN" altLang="en-US" sz="3600" dirty="0"/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373F7821-343E-43F8-84B6-BDE23722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493" y="1062490"/>
            <a:ext cx="9144000" cy="3816424"/>
          </a:xfrm>
        </p:spPr>
        <p:txBody>
          <a:bodyPr/>
          <a:lstStyle/>
          <a:p>
            <a:r>
              <a:rPr lang="zh-CN" altLang="en-US" sz="16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目录添加   </a:t>
            </a: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打开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IP </a:t>
            </a: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添加窗口：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PROJECT 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MANAGER</a:t>
            </a:r>
            <a:r>
              <a:rPr lang="en-US" altLang="zh-CN" sz="1600" dirty="0" err="1">
                <a:solidFill>
                  <a:srgbClr val="000000"/>
                </a:solidFill>
                <a:latin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Settings</a:t>
            </a:r>
            <a:r>
              <a:rPr lang="en-US" altLang="zh-CN" sz="1600" dirty="0" err="1">
                <a:solidFill>
                  <a:srgbClr val="000000"/>
                </a:solidFill>
                <a:latin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Project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Settings</a:t>
            </a:r>
            <a:r>
              <a:rPr lang="en-US" altLang="zh-CN" sz="1600" dirty="0" err="1">
                <a:solidFill>
                  <a:srgbClr val="000000"/>
                </a:solidFill>
                <a:latin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IP</a:t>
            </a:r>
            <a:r>
              <a:rPr lang="en-US" altLang="zh-CN" sz="1600" dirty="0" err="1">
                <a:solidFill>
                  <a:srgbClr val="000000"/>
                </a:solidFill>
                <a:latin typeface="Wingdings" panose="05000000000000000000" pitchFamily="2" charset="2"/>
              </a:rPr>
              <a:t></a:t>
            </a:r>
            <a:r>
              <a:rPr lang="en-US" altLang="zh-CN" sz="1600" dirty="0" err="1">
                <a:solidFill>
                  <a:srgbClr val="000000"/>
                </a:solidFill>
              </a:rPr>
              <a:t>R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epository</a:t>
            </a:r>
            <a:r>
              <a:rPr lang="en-US" altLang="zh-CN" sz="1050" dirty="0"/>
              <a:t> </a:t>
            </a:r>
            <a:endParaRPr lang="en-US" altLang="zh-CN" sz="160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C10254-0638-4FD7-8CD8-9B3AE5D5C392}"/>
              </a:ext>
            </a:extLst>
          </p:cNvPr>
          <p:cNvSpPr/>
          <p:nvPr/>
        </p:nvSpPr>
        <p:spPr>
          <a:xfrm>
            <a:off x="1638822" y="2276872"/>
            <a:ext cx="1000794" cy="216024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100D45-5BB1-4B3F-A5AD-0E3D08174EAA}"/>
              </a:ext>
            </a:extLst>
          </p:cNvPr>
          <p:cNvSpPr/>
          <p:nvPr/>
        </p:nvSpPr>
        <p:spPr>
          <a:xfrm>
            <a:off x="1638822" y="2544020"/>
            <a:ext cx="568746" cy="164901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5EFDCD-394B-4DB1-80B3-E6FCCF569996}"/>
              </a:ext>
            </a:extLst>
          </p:cNvPr>
          <p:cNvSpPr/>
          <p:nvPr/>
        </p:nvSpPr>
        <p:spPr>
          <a:xfrm>
            <a:off x="3431704" y="2060848"/>
            <a:ext cx="792088" cy="144642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BA1BCA-AC8F-4805-864A-C8C109848AC5}"/>
              </a:ext>
            </a:extLst>
          </p:cNvPr>
          <p:cNvSpPr/>
          <p:nvPr/>
        </p:nvSpPr>
        <p:spPr>
          <a:xfrm>
            <a:off x="3543375" y="3163002"/>
            <a:ext cx="680417" cy="26599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DF5C76A-BF34-4A21-B7B1-8968DEB8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15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1280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35AA57C-E99A-42F8-B746-7F77C11BA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34" y="1628800"/>
            <a:ext cx="5389994" cy="4595478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CD780C90-7BB4-43E1-8B60-F9C3055A5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3" y="22527"/>
            <a:ext cx="8540751" cy="1143000"/>
          </a:xfrm>
        </p:spPr>
        <p:txBody>
          <a:bodyPr/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endParaRPr lang="zh-CN" altLang="en-US" sz="3600" dirty="0"/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51CF56A7-14C7-435D-B94B-D484B5AA9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397" y="1184494"/>
            <a:ext cx="3451398" cy="3816424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添加自定义 </a:t>
            </a:r>
            <a:r>
              <a:rPr lang="en-US" altLang="zh-CN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IP</a:t>
            </a:r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：点击“</a:t>
            </a:r>
            <a:r>
              <a:rPr lang="en-US" altLang="zh-CN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+”</a:t>
            </a:r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，添加自定义 </a:t>
            </a:r>
            <a:r>
              <a:rPr lang="en-US" altLang="zh-CN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IP </a:t>
            </a:r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路径，点击 </a:t>
            </a:r>
            <a:r>
              <a:rPr lang="en-US" altLang="zh-CN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 </a:t>
            </a:r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添加完成会弹出成功添加信息提示框，点击</a:t>
            </a:r>
            <a:r>
              <a:rPr lang="en-US" altLang="zh-CN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OK</a:t>
            </a:r>
          </a:p>
          <a:p>
            <a:pPr marL="0" indent="0">
              <a:buNone/>
            </a:pPr>
            <a:endParaRPr lang="en-US" altLang="zh-CN" sz="200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pPr marL="342891" indent="-342891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同样的方式可以添加刚刚封装完成的所有模块</a:t>
            </a:r>
            <a:endParaRPr lang="en-US" altLang="zh-CN" sz="200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pPr marL="342891" indent="-342891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80000"/>
              <a:buFont typeface="Wingdings" pitchFamily="2" charset="2"/>
              <a:buChar char="p"/>
              <a:defRPr/>
            </a:pPr>
            <a:endParaRPr lang="en-US" altLang="zh-CN" sz="200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pPr marL="342891" indent="-342891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80000"/>
              <a:buFont typeface="Wingdings" pitchFamily="2" charset="2"/>
              <a:buChar char="p"/>
              <a:defRPr/>
            </a:pPr>
            <a:endParaRPr lang="en-US" altLang="zh-CN" sz="200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  <a:p>
            <a:pPr marL="342891" indent="-342891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BACC6">
                  <a:lumMod val="75000"/>
                </a:srgbClr>
              </a:buClr>
              <a:buSzPct val="80000"/>
              <a:buFont typeface="Wingdings" pitchFamily="2" charset="2"/>
              <a:buChar char="p"/>
              <a:defRPr/>
            </a:pPr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若依照步骤先将所有的模块拷贝到当前根目录下，则此处直接将根目录添加进来，可以一次性添加所有模块</a:t>
            </a:r>
            <a:endParaRPr lang="en-US" altLang="zh-CN" sz="200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69B8B8-CB52-4FA3-8D96-323B13E38F3B}"/>
              </a:ext>
            </a:extLst>
          </p:cNvPr>
          <p:cNvSpPr/>
          <p:nvPr/>
        </p:nvSpPr>
        <p:spPr>
          <a:xfrm>
            <a:off x="6672065" y="2751346"/>
            <a:ext cx="288032" cy="173599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44BB5886-22BC-4018-9D89-CD21E543A902}"/>
              </a:ext>
            </a:extLst>
          </p:cNvPr>
          <p:cNvSpPr/>
          <p:nvPr/>
        </p:nvSpPr>
        <p:spPr>
          <a:xfrm>
            <a:off x="7968208" y="548681"/>
            <a:ext cx="1008112" cy="765427"/>
          </a:xfrm>
          <a:prstGeom prst="wedgeRoundRectCallout">
            <a:avLst>
              <a:gd name="adj1" fmla="val -82935"/>
              <a:gd name="adj2" fmla="val 26029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自定义的实际</a:t>
            </a:r>
            <a:r>
              <a:rPr lang="en-US" altLang="zh-CN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IP</a:t>
            </a:r>
            <a:r>
              <a:rPr lang="zh-CN" altLang="en-US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路径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B4DC55-CADA-49C7-8C55-B9E9F60D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16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D62BAC-1F38-E214-4AF9-D373921A3379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IP</a:t>
            </a:r>
          </a:p>
        </p:txBody>
      </p:sp>
    </p:spTree>
    <p:extLst>
      <p:ext uri="{BB962C8B-B14F-4D97-AF65-F5344CB8AC3E}">
        <p14:creationId xmlns:p14="http://schemas.microsoft.com/office/powerpoint/2010/main" val="3906460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45FA1D8-82B6-4C6D-9B3D-0F6137913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02432"/>
            <a:ext cx="9144000" cy="475392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6736" y="68320"/>
            <a:ext cx="8540751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（含源文件版）</a:t>
            </a:r>
            <a:endParaRPr lang="zh-CN" altLang="en-US" sz="3600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CB6B35F-FB9C-4EDB-8CD7-5FD59CD2C4F0}"/>
              </a:ext>
            </a:extLst>
          </p:cNvPr>
          <p:cNvSpPr/>
          <p:nvPr/>
        </p:nvSpPr>
        <p:spPr>
          <a:xfrm>
            <a:off x="1524000" y="2525762"/>
            <a:ext cx="899592" cy="3549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0D2734-0DF4-4876-9822-E416F3729EDC}"/>
              </a:ext>
            </a:extLst>
          </p:cNvPr>
          <p:cNvSpPr txBox="1"/>
          <p:nvPr/>
        </p:nvSpPr>
        <p:spPr>
          <a:xfrm>
            <a:off x="1594520" y="1108821"/>
            <a:ext cx="8712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单击 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 Catalog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，出现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模块搜索栏</a:t>
            </a:r>
            <a:endParaRPr lang="zh-CN" altLang="en-US" sz="20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35CCBA-667B-4607-9F3D-9601B7DF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17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81776DB-0154-4B21-81C0-7252999D7B83}"/>
              </a:ext>
            </a:extLst>
          </p:cNvPr>
          <p:cNvSpPr/>
          <p:nvPr/>
        </p:nvSpPr>
        <p:spPr>
          <a:xfrm>
            <a:off x="4727848" y="2155842"/>
            <a:ext cx="4392488" cy="3359402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814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B728821-D66B-4A4F-BF45-7BC1659C6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99784"/>
            <a:ext cx="9144000" cy="4997622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7A478C74-CE32-4C99-80ED-76E3BF785D81}"/>
              </a:ext>
            </a:extLst>
          </p:cNvPr>
          <p:cNvSpPr/>
          <p:nvPr/>
        </p:nvSpPr>
        <p:spPr>
          <a:xfrm>
            <a:off x="1991544" y="3212976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1E81DC3-5CC4-4791-9E9D-1A864B3DDAB4}"/>
              </a:ext>
            </a:extLst>
          </p:cNvPr>
          <p:cNvSpPr/>
          <p:nvPr/>
        </p:nvSpPr>
        <p:spPr>
          <a:xfrm>
            <a:off x="4079776" y="2234041"/>
            <a:ext cx="1368152" cy="3608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CBD6DB-AFE0-4C8B-BE4C-58CAF7B8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3" y="22527"/>
            <a:ext cx="8540751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（含源文件版）</a:t>
            </a:r>
            <a:endParaRPr lang="zh-CN" altLang="en-US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476D09-F831-433F-9740-6F2053A66452}"/>
              </a:ext>
            </a:extLst>
          </p:cNvPr>
          <p:cNvSpPr txBox="1"/>
          <p:nvPr/>
        </p:nvSpPr>
        <p:spPr>
          <a:xfrm>
            <a:off x="1739517" y="1165527"/>
            <a:ext cx="861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and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出现刚才自定义的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and32_v1_0IP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，双击添加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，下一步点击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OK</a:t>
            </a:r>
            <a:endParaRPr lang="zh-CN" altLang="en-US" sz="20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4ED86A-BF6B-432C-84AB-D09B29E4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18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8769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59841D3-F418-4810-B515-2F14EB98A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299" y="1204916"/>
            <a:ext cx="4752975" cy="5334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C0B0220-0B55-45BE-A6CA-23021E8F869D}"/>
              </a:ext>
            </a:extLst>
          </p:cNvPr>
          <p:cNvSpPr txBox="1"/>
          <p:nvPr/>
        </p:nvSpPr>
        <p:spPr>
          <a:xfrm>
            <a:off x="1694337" y="1204916"/>
            <a:ext cx="6219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综合输出选项选择</a:t>
            </a:r>
            <a:r>
              <a:rPr lang="en-US" altLang="zh-CN" sz="2000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Global</a:t>
            </a:r>
            <a:endParaRPr lang="zh-CN" altLang="en-US" sz="20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2EB412D-C574-4052-9905-18D34B5FF061}"/>
              </a:ext>
            </a:extLst>
          </p:cNvPr>
          <p:cNvSpPr/>
          <p:nvPr/>
        </p:nvSpPr>
        <p:spPr>
          <a:xfrm>
            <a:off x="6643641" y="4437112"/>
            <a:ext cx="1296144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720FAE5-598A-4ABA-AE52-104C11BE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3" y="22527"/>
            <a:ext cx="8540751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（含源文件版）</a:t>
            </a:r>
            <a:endParaRPr lang="zh-CN" altLang="en-US" sz="36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490DB74-AEB1-4601-8A57-8B594418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19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1560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DCF2586-6FFC-4444-834D-4B27FC6A5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128" y="1730278"/>
            <a:ext cx="9144000" cy="49838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C0B0220-0B55-45BE-A6CA-23021E8F869D}"/>
              </a:ext>
            </a:extLst>
          </p:cNvPr>
          <p:cNvSpPr txBox="1"/>
          <p:nvPr/>
        </p:nvSpPr>
        <p:spPr>
          <a:xfrm>
            <a:off x="1775522" y="1013146"/>
            <a:ext cx="62190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自定义的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and32_v1_0IP</a:t>
            </a:r>
          </a:p>
          <a:p>
            <a:pPr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已经成功添加</a:t>
            </a:r>
            <a:endParaRPr lang="zh-CN" altLang="en-US" sz="20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2EB412D-C574-4052-9905-18D34B5FF061}"/>
              </a:ext>
            </a:extLst>
          </p:cNvPr>
          <p:cNvSpPr/>
          <p:nvPr/>
        </p:nvSpPr>
        <p:spPr>
          <a:xfrm>
            <a:off x="3706552" y="2791202"/>
            <a:ext cx="1872208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720FAE5-598A-4ABA-AE52-104C11BE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3" y="22527"/>
            <a:ext cx="8540751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（含源文件版）</a:t>
            </a:r>
            <a:endParaRPr lang="zh-CN" altLang="en-US" sz="36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490DB74-AEB1-4601-8A57-8B594418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20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5C6AC7-3A53-422B-BF38-4138D19DBDA8}"/>
              </a:ext>
            </a:extLst>
          </p:cNvPr>
          <p:cNvSpPr txBox="1"/>
          <p:nvPr/>
        </p:nvSpPr>
        <p:spPr>
          <a:xfrm>
            <a:off x="5613165" y="1026839"/>
            <a:ext cx="6046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同样的方式可添加自定义的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and32_v1_0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MUX2T1_32_0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</a:p>
        </p:txBody>
      </p:sp>
    </p:spTree>
    <p:extLst>
      <p:ext uri="{BB962C8B-B14F-4D97-AF65-F5344CB8AC3E}">
        <p14:creationId xmlns:p14="http://schemas.microsoft.com/office/powerpoint/2010/main" val="4088451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C584F76-0F11-46F7-8DAA-112EB5D0F7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054"/>
          <a:stretch/>
        </p:blipFill>
        <p:spPr>
          <a:xfrm>
            <a:off x="1672940" y="2230331"/>
            <a:ext cx="8846120" cy="4461928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5720FAE5-598A-4ABA-AE52-104C11BE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3" y="22527"/>
            <a:ext cx="8540751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（含源文件版）</a:t>
            </a:r>
            <a:endParaRPr lang="zh-CN" altLang="en-US" sz="3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F872CF-748A-4ADD-89CD-60D5A3410C9B}"/>
              </a:ext>
            </a:extLst>
          </p:cNvPr>
          <p:cNvSpPr txBox="1"/>
          <p:nvPr/>
        </p:nvSpPr>
        <p:spPr>
          <a:xfrm>
            <a:off x="1765589" y="1067406"/>
            <a:ext cx="79053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点击下方的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 Source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，在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名称下双击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Instantiation Template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下方的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veo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文件，出现调用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的模板文件</a:t>
            </a:r>
            <a:endParaRPr lang="zh-CN" altLang="en-US" sz="20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0101A5-DDC0-45EE-936E-FC602A24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21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58D3B76-F196-4912-B17F-F18418ACCF22}"/>
              </a:ext>
            </a:extLst>
          </p:cNvPr>
          <p:cNvSpPr/>
          <p:nvPr/>
        </p:nvSpPr>
        <p:spPr>
          <a:xfrm>
            <a:off x="1919537" y="5777288"/>
            <a:ext cx="1430229" cy="2622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CAE32AB-7710-466C-A5F9-C8071D2CEE30}"/>
              </a:ext>
            </a:extLst>
          </p:cNvPr>
          <p:cNvSpPr/>
          <p:nvPr/>
        </p:nvSpPr>
        <p:spPr>
          <a:xfrm>
            <a:off x="2135561" y="3429000"/>
            <a:ext cx="1430229" cy="2622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E97FD03-96CB-4BB9-B548-7FD248AE1FA3}"/>
              </a:ext>
            </a:extLst>
          </p:cNvPr>
          <p:cNvSpPr/>
          <p:nvPr/>
        </p:nvSpPr>
        <p:spPr>
          <a:xfrm>
            <a:off x="4772820" y="5228686"/>
            <a:ext cx="4898071" cy="1222148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20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B496BA8-72CE-4DC5-AA91-0E3F30B78644}"/>
              </a:ext>
            </a:extLst>
          </p:cNvPr>
          <p:cNvSpPr txBox="1"/>
          <p:nvPr/>
        </p:nvSpPr>
        <p:spPr>
          <a:xfrm>
            <a:off x="2109215" y="1165527"/>
            <a:ext cx="7947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复制模板文件或按照格式编写到顶层文件下即可完成模块的调用</a:t>
            </a:r>
            <a:r>
              <a:rPr lang="zh-CN" altLang="en-US" sz="2000" dirty="0">
                <a:solidFill>
                  <a:srgbClr val="393939"/>
                </a:solidFill>
                <a:latin typeface="PingFang SC"/>
                <a:ea typeface="宋体" panose="02010600030101010101" pitchFamily="2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2F93B3F-2961-4580-9D67-F3A5A112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3" y="22527"/>
            <a:ext cx="8540751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（含源文件版）</a:t>
            </a:r>
            <a:endParaRPr lang="zh-CN" altLang="en-US" sz="36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A1DCCF-B623-4762-9AF7-A11299DF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22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562EFD-58C6-49AC-9865-058B01A92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447" y="3210897"/>
            <a:ext cx="7462487" cy="2334419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53E24493-1C9E-4E84-AEFD-7D3438D2CA4D}"/>
              </a:ext>
            </a:extLst>
          </p:cNvPr>
          <p:cNvSpPr/>
          <p:nvPr/>
        </p:nvSpPr>
        <p:spPr>
          <a:xfrm>
            <a:off x="3778580" y="3399408"/>
            <a:ext cx="1885373" cy="50457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FB95009-C689-474F-A411-4D99DE006E65}"/>
              </a:ext>
            </a:extLst>
          </p:cNvPr>
          <p:cNvSpPr/>
          <p:nvPr/>
        </p:nvSpPr>
        <p:spPr>
          <a:xfrm>
            <a:off x="2783633" y="3399408"/>
            <a:ext cx="891133" cy="50457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7B669CD9-4852-4236-A25F-2164B83E01CA}"/>
              </a:ext>
            </a:extLst>
          </p:cNvPr>
          <p:cNvSpPr/>
          <p:nvPr/>
        </p:nvSpPr>
        <p:spPr>
          <a:xfrm>
            <a:off x="7464152" y="1805499"/>
            <a:ext cx="1224136" cy="765427"/>
          </a:xfrm>
          <a:prstGeom prst="wedgeRoundRectCallout">
            <a:avLst>
              <a:gd name="adj1" fmla="val -222771"/>
              <a:gd name="adj2" fmla="val 15410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例化名称（可改）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EB919193-B5B2-4AB5-BB3F-E534157EEC49}"/>
              </a:ext>
            </a:extLst>
          </p:cNvPr>
          <p:cNvSpPr/>
          <p:nvPr/>
        </p:nvSpPr>
        <p:spPr>
          <a:xfrm>
            <a:off x="1775522" y="2125484"/>
            <a:ext cx="1224136" cy="765427"/>
          </a:xfrm>
          <a:prstGeom prst="wedgeRoundRectCallout">
            <a:avLst>
              <a:gd name="adj1" fmla="val 27258"/>
              <a:gd name="adj2" fmla="val 13088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模块名称（不可改）</a:t>
            </a: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8E70FEC6-E77F-4E99-92C5-4792EBDE42A9}"/>
              </a:ext>
            </a:extLst>
          </p:cNvPr>
          <p:cNvSpPr/>
          <p:nvPr/>
        </p:nvSpPr>
        <p:spPr>
          <a:xfrm>
            <a:off x="1828780" y="5590928"/>
            <a:ext cx="1224136" cy="765427"/>
          </a:xfrm>
          <a:prstGeom prst="wedgeRoundRectCallout">
            <a:avLst>
              <a:gd name="adj1" fmla="val 68757"/>
              <a:gd name="adj2" fmla="val -19764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模块端口（不可改）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D5CC61F3-53DC-4268-AFBC-B6FC2DED1F21}"/>
              </a:ext>
            </a:extLst>
          </p:cNvPr>
          <p:cNvSpPr/>
          <p:nvPr/>
        </p:nvSpPr>
        <p:spPr>
          <a:xfrm>
            <a:off x="5555432" y="5773490"/>
            <a:ext cx="1224136" cy="765427"/>
          </a:xfrm>
          <a:prstGeom prst="wedgeRoundRectCallout">
            <a:avLst>
              <a:gd name="adj1" fmla="val -184385"/>
              <a:gd name="adj2" fmla="val -18271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例化端口（可改）</a:t>
            </a:r>
          </a:p>
        </p:txBody>
      </p:sp>
    </p:spTree>
    <p:extLst>
      <p:ext uri="{BB962C8B-B14F-4D97-AF65-F5344CB8AC3E}">
        <p14:creationId xmlns:p14="http://schemas.microsoft.com/office/powerpoint/2010/main" val="146863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5523" y="22527"/>
            <a:ext cx="8540751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模块调用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OExp00-Element</a:t>
            </a:r>
            <a:r>
              <a:rPr lang="zh-CN" altLang="en-US" sz="3600" b="1" dirty="0">
                <a:solidFill>
                  <a:srgbClr val="3E3EF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（不含源文件版）</a:t>
            </a:r>
            <a:endParaRPr lang="zh-CN" altLang="en-US" sz="36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BF3C1F-414A-4414-897C-F74B83ED6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2" y="1147084"/>
            <a:ext cx="9144000" cy="3816424"/>
          </a:xfrm>
        </p:spPr>
        <p:txBody>
          <a:bodyPr/>
          <a:lstStyle/>
          <a:p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方法与含源文件版本相同，区别在于</a:t>
            </a:r>
            <a:r>
              <a:rPr lang="en-US" altLang="zh-CN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IP</a:t>
            </a:r>
            <a:r>
              <a:rPr lang="zh-CN" altLang="en-US" sz="2000" dirty="0">
                <a:solidFill>
                  <a:srgbClr val="4D4D4D"/>
                </a:solidFill>
                <a:latin typeface="Arial" panose="020B0604020202020204" pitchFamily="34" charset="0"/>
                <a:ea typeface="-apple-system"/>
              </a:rPr>
              <a:t>核文件不同</a:t>
            </a:r>
            <a:endParaRPr lang="en-US" altLang="zh-CN" sz="2000" dirty="0">
              <a:solidFill>
                <a:srgbClr val="4D4D4D"/>
              </a:solidFill>
              <a:latin typeface="Arial" panose="020B0604020202020204" pitchFamily="34" charset="0"/>
              <a:ea typeface="-apple-system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CAD3C9-6FA7-4E2D-91EF-BB5ABC55E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148" y="3200068"/>
            <a:ext cx="6115050" cy="11715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0CD0950-5CB1-4458-A50D-1375C9B46725}"/>
              </a:ext>
            </a:extLst>
          </p:cNvPr>
          <p:cNvSpPr txBox="1"/>
          <p:nvPr/>
        </p:nvSpPr>
        <p:spPr>
          <a:xfrm>
            <a:off x="2207568" y="2732132"/>
            <a:ext cx="7344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每个模块的</a:t>
            </a:r>
            <a:r>
              <a:rPr lang="en-US" altLang="zh-CN" dirty="0">
                <a:solidFill>
                  <a:srgbClr val="FF0000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solidFill>
                  <a:srgbClr val="FF0000"/>
                </a:solidFill>
                <a:latin typeface="Calibri"/>
                <a:ea typeface="黑体" panose="02010609060101010101" pitchFamily="49" charset="-122"/>
                <a:cs typeface="Times New Roman" panose="02020603050405020304" pitchFamily="18" charset="0"/>
              </a:rPr>
              <a:t>核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文件夹都包含</a:t>
            </a:r>
            <a:r>
              <a:rPr lang="en-US" altLang="zh-CN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xgui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component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以及其对应的</a:t>
            </a:r>
            <a:r>
              <a:rPr lang="en-US" altLang="zh-CN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u="sng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edf</a:t>
            </a:r>
            <a:r>
              <a:rPr lang="zh-CN" altLang="en-US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文件和</a:t>
            </a:r>
            <a:r>
              <a:rPr lang="en-US" altLang="zh-CN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.v</a:t>
            </a:r>
            <a:r>
              <a:rPr lang="zh-CN" altLang="en-US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端口文件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441EAA-0444-4599-BDD8-E8FE6357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Chapter 1   </a:t>
            </a:r>
            <a:fld id="{5EFF9C44-2717-445B-8E50-0551D6089AAB}" type="slidenum">
              <a:rPr lang="zh-CN" altLang="en-US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defRPr/>
              </a:pPr>
              <a:t>23</a:t>
            </a:fld>
            <a:endParaRPr lang="zh-CN" altLang="en-US" dirty="0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88B5B8-AAE7-4732-93BF-C646FECE4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149" y="4315222"/>
            <a:ext cx="1971675" cy="228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745F24C-DA09-43D9-B97E-022A66EF28CD}"/>
              </a:ext>
            </a:extLst>
          </p:cNvPr>
          <p:cNvSpPr txBox="1"/>
          <p:nvPr/>
        </p:nvSpPr>
        <p:spPr>
          <a:xfrm>
            <a:off x="1524000" y="4761451"/>
            <a:ext cx="8818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其调用原理是利用</a:t>
            </a:r>
            <a:r>
              <a:rPr lang="en-US" altLang="zh-CN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xgui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下的</a:t>
            </a:r>
            <a:r>
              <a:rPr lang="en-US" altLang="zh-CN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tcl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脚本根据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xml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特征描述从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edf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文件处重新复制生成工程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>
              <a:buClr>
                <a:srgbClr val="4BACC6">
                  <a:lumMod val="75000"/>
                </a:srgbClr>
              </a:buClr>
              <a:defRPr/>
            </a:pPr>
            <a:r>
              <a:rPr lang="zh-CN" altLang="en-US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所需文件</a:t>
            </a:r>
            <a:endParaRPr lang="zh-CN" altLang="en-US" u="sng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9823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1246</Words>
  <Application>Microsoft Office PowerPoint</Application>
  <PresentationFormat>宽屏</PresentationFormat>
  <Paragraphs>160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PingFang SC</vt:lpstr>
      <vt:lpstr>等线</vt:lpstr>
      <vt:lpstr>等线 Light</vt:lpstr>
      <vt:lpstr>黑体</vt:lpstr>
      <vt:lpstr>宋体</vt:lpstr>
      <vt:lpstr>Arial</vt:lpstr>
      <vt:lpstr>Calibri</vt:lpstr>
      <vt:lpstr>Times New Roman</vt:lpstr>
      <vt:lpstr>Wingdings</vt:lpstr>
      <vt:lpstr>Office 主题​​</vt:lpstr>
      <vt:lpstr>PowerPoint 演示文稿</vt:lpstr>
      <vt:lpstr>ROM_D IP Core</vt:lpstr>
      <vt:lpstr>PowerPoint 演示文稿</vt:lpstr>
      <vt:lpstr>PowerPoint 演示文稿</vt:lpstr>
      <vt:lpstr>PowerPoint 演示文稿</vt:lpstr>
      <vt:lpstr>PowerPoint 演示文稿</vt:lpstr>
      <vt:lpstr>ROM初始化文件：.coe</vt:lpstr>
      <vt:lpstr>RAM_B IP Core-U3</vt:lpstr>
      <vt:lpstr>PowerPoint 演示文稿</vt:lpstr>
      <vt:lpstr>PowerPoint 演示文稿</vt:lpstr>
      <vt:lpstr>PowerPoint 演示文稿</vt:lpstr>
      <vt:lpstr>PowerPoint 演示文稿</vt:lpstr>
      <vt:lpstr>Question: RAM的生成</vt:lpstr>
      <vt:lpstr>模块调用OExp00-Element （含源文件版）</vt:lpstr>
      <vt:lpstr>模块调用OExp00-Element （含源文件版）</vt:lpstr>
      <vt:lpstr>模块调用OExp00-Element</vt:lpstr>
      <vt:lpstr>模块调用OExp00-Element （含源文件版）</vt:lpstr>
      <vt:lpstr>模块调用OExp00-Element （含源文件版）</vt:lpstr>
      <vt:lpstr>模块调用OExp00-Element （含源文件版）</vt:lpstr>
      <vt:lpstr>模块调用OExp00-Element （含源文件版）</vt:lpstr>
      <vt:lpstr>模块调用OExp00-Element （含源文件版）</vt:lpstr>
      <vt:lpstr>模块调用OExp00-Element （含源文件版）</vt:lpstr>
      <vt:lpstr>模块调用OExp00-Element （不含源文件版）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耀 冯</dc:creator>
  <cp:lastModifiedBy>耀 冯</cp:lastModifiedBy>
  <cp:revision>1</cp:revision>
  <dcterms:created xsi:type="dcterms:W3CDTF">2025-11-06T08:53:34Z</dcterms:created>
  <dcterms:modified xsi:type="dcterms:W3CDTF">2025-11-06T09:02:01Z</dcterms:modified>
</cp:coreProperties>
</file>